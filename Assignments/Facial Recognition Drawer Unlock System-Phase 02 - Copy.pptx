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0" r:id="rId4"/>
    <p:sldId id="262" r:id="rId5"/>
    <p:sldId id="261" r:id="rId6"/>
    <p:sldId id="265" r:id="rId7"/>
    <p:sldId id="257" r:id="rId8"/>
    <p:sldId id="263" r:id="rId9"/>
    <p:sldId id="266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A19AA-7942-40E2-10DE-BC8AB9E7F0A0}" v="26" dt="2026-02-19T00:27:46.294"/>
    <p1510:client id="{B826F9B9-A8F3-73EF-C12A-8213012F4846}" v="419" dt="2026-02-18T23:31:06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24856B-7FC4-4AB3-981E-3AD15F8C483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3BD1F6-D84E-4C87-B0D9-DC670A35C517}">
      <dgm:prSet/>
      <dgm:spPr/>
      <dgm:t>
        <a:bodyPr/>
        <a:lstStyle/>
        <a:p>
          <a:r>
            <a:rPr lang="en-US"/>
            <a:t>The system follows a strict pipeline to convert a camera frame into a secure lock trigger:</a:t>
          </a:r>
        </a:p>
      </dgm:t>
    </dgm:pt>
    <dgm:pt modelId="{5C36F5F3-4BDD-4795-9CA1-A5DCDD670110}" type="parTrans" cxnId="{5DBF428F-F1A4-4ED9-82D6-38D76C993D7A}">
      <dgm:prSet/>
      <dgm:spPr/>
      <dgm:t>
        <a:bodyPr/>
        <a:lstStyle/>
        <a:p>
          <a:endParaRPr lang="en-US"/>
        </a:p>
      </dgm:t>
    </dgm:pt>
    <dgm:pt modelId="{5714CC75-910C-4B2C-8C89-6231CD45B2E6}" type="sibTrans" cxnId="{5DBF428F-F1A4-4ED9-82D6-38D76C993D7A}">
      <dgm:prSet/>
      <dgm:spPr/>
      <dgm:t>
        <a:bodyPr/>
        <a:lstStyle/>
        <a:p>
          <a:endParaRPr lang="en-US"/>
        </a:p>
      </dgm:t>
    </dgm:pt>
    <dgm:pt modelId="{E8F421DE-36A6-4F4D-8EE2-FC20F75893E6}">
      <dgm:prSet/>
      <dgm:spPr/>
      <dgm:t>
        <a:bodyPr/>
        <a:lstStyle/>
        <a:p>
          <a:r>
            <a:rPr lang="en-US" b="1"/>
            <a:t>Capture:</a:t>
          </a:r>
          <a:r>
            <a:rPr lang="en-US"/>
            <a:t> Raw JPEG from the OV2640 sensor.</a:t>
          </a:r>
        </a:p>
      </dgm:t>
    </dgm:pt>
    <dgm:pt modelId="{89F37BA9-72BA-408B-8FAD-AF15DF39BF61}" type="parTrans" cxnId="{D7AEAED7-7D08-4824-8F3F-BF1464F1F7A3}">
      <dgm:prSet/>
      <dgm:spPr/>
      <dgm:t>
        <a:bodyPr/>
        <a:lstStyle/>
        <a:p>
          <a:endParaRPr lang="en-US"/>
        </a:p>
      </dgm:t>
    </dgm:pt>
    <dgm:pt modelId="{D7613128-52BB-4356-A17F-6C951EF0DA8E}" type="sibTrans" cxnId="{D7AEAED7-7D08-4824-8F3F-BF1464F1F7A3}">
      <dgm:prSet/>
      <dgm:spPr/>
      <dgm:t>
        <a:bodyPr/>
        <a:lstStyle/>
        <a:p>
          <a:endParaRPr lang="en-US"/>
        </a:p>
      </dgm:t>
    </dgm:pt>
    <dgm:pt modelId="{3BF02375-E414-4330-BF1B-E654397930D1}">
      <dgm:prSet/>
      <dgm:spPr/>
      <dgm:t>
        <a:bodyPr/>
        <a:lstStyle/>
        <a:p>
          <a:r>
            <a:rPr lang="en-US" b="1"/>
            <a:t>Preprocessing:</a:t>
          </a:r>
          <a:r>
            <a:rPr lang="en-US"/>
            <a:t> Decompression into an </a:t>
          </a:r>
          <a:r>
            <a:rPr lang="en-US" b="1"/>
            <a:t>RGB888</a:t>
          </a:r>
          <a:r>
            <a:rPr lang="en-US"/>
            <a:t> matrix.</a:t>
          </a:r>
        </a:p>
      </dgm:t>
    </dgm:pt>
    <dgm:pt modelId="{F4427345-2C73-4884-A213-1CD30BFD5BE2}" type="parTrans" cxnId="{2D740510-C3BF-4595-8828-DA8C30BC1435}">
      <dgm:prSet/>
      <dgm:spPr/>
      <dgm:t>
        <a:bodyPr/>
        <a:lstStyle/>
        <a:p>
          <a:endParaRPr lang="en-US"/>
        </a:p>
      </dgm:t>
    </dgm:pt>
    <dgm:pt modelId="{39955648-0EA6-4998-836F-963531CC82BB}" type="sibTrans" cxnId="{2D740510-C3BF-4595-8828-DA8C30BC1435}">
      <dgm:prSet/>
      <dgm:spPr/>
      <dgm:t>
        <a:bodyPr/>
        <a:lstStyle/>
        <a:p>
          <a:endParaRPr lang="en-US"/>
        </a:p>
      </dgm:t>
    </dgm:pt>
    <dgm:pt modelId="{4AF89191-8A37-4499-BD45-2E261574449F}">
      <dgm:prSet/>
      <dgm:spPr/>
      <dgm:t>
        <a:bodyPr/>
        <a:lstStyle/>
        <a:p>
          <a:r>
            <a:rPr lang="en-US" b="1"/>
            <a:t>Detection:</a:t>
          </a:r>
          <a:r>
            <a:rPr lang="en-US"/>
            <a:t> MTMN identifies the bounding box and 5 facial landmarks.</a:t>
          </a:r>
        </a:p>
      </dgm:t>
    </dgm:pt>
    <dgm:pt modelId="{07F86749-93A0-4600-B9F8-6099D54AC62D}" type="parTrans" cxnId="{E527A39B-6C7A-4639-B09D-227114361F5A}">
      <dgm:prSet/>
      <dgm:spPr/>
      <dgm:t>
        <a:bodyPr/>
        <a:lstStyle/>
        <a:p>
          <a:endParaRPr lang="en-US"/>
        </a:p>
      </dgm:t>
    </dgm:pt>
    <dgm:pt modelId="{AFA1CD4E-01D0-4BE4-986C-E435479D9CE2}" type="sibTrans" cxnId="{E527A39B-6C7A-4639-B09D-227114361F5A}">
      <dgm:prSet/>
      <dgm:spPr/>
      <dgm:t>
        <a:bodyPr/>
        <a:lstStyle/>
        <a:p>
          <a:endParaRPr lang="en-US"/>
        </a:p>
      </dgm:t>
    </dgm:pt>
    <dgm:pt modelId="{BB1E2642-D01E-4D86-86E1-0984E10D4B0D}">
      <dgm:prSet/>
      <dgm:spPr/>
      <dgm:t>
        <a:bodyPr/>
        <a:lstStyle/>
        <a:p>
          <a:r>
            <a:rPr lang="en-US" b="1"/>
            <a:t>Alignment:</a:t>
          </a:r>
          <a:r>
            <a:rPr lang="en-US"/>
            <a:t> </a:t>
          </a:r>
          <a:r>
            <a:rPr lang="en-US" b="1"/>
            <a:t>Affine Transformation</a:t>
          </a:r>
          <a:r>
            <a:rPr lang="en-US"/>
            <a:t> straightens the face (correcting for head tilt).</a:t>
          </a:r>
        </a:p>
      </dgm:t>
    </dgm:pt>
    <dgm:pt modelId="{E07EACD6-661A-4345-8A3F-8C4D04BB6E14}" type="parTrans" cxnId="{FA637725-4CED-4EF2-A326-9106F1175DCB}">
      <dgm:prSet/>
      <dgm:spPr/>
      <dgm:t>
        <a:bodyPr/>
        <a:lstStyle/>
        <a:p>
          <a:endParaRPr lang="en-US"/>
        </a:p>
      </dgm:t>
    </dgm:pt>
    <dgm:pt modelId="{2FF4E4E9-A95E-4E60-B9F8-CD9B395B6B74}" type="sibTrans" cxnId="{FA637725-4CED-4EF2-A326-9106F1175DCB}">
      <dgm:prSet/>
      <dgm:spPr/>
      <dgm:t>
        <a:bodyPr/>
        <a:lstStyle/>
        <a:p>
          <a:endParaRPr lang="en-US"/>
        </a:p>
      </dgm:t>
    </dgm:pt>
    <dgm:pt modelId="{9D154839-6066-4D45-A627-09ACBB8AA5C2}">
      <dgm:prSet/>
      <dgm:spPr/>
      <dgm:t>
        <a:bodyPr/>
        <a:lstStyle/>
        <a:p>
          <a:r>
            <a:rPr lang="en-US" b="1"/>
            <a:t>Feature Engineering:</a:t>
          </a:r>
          <a:r>
            <a:rPr lang="en-US"/>
            <a:t> Conversion into a </a:t>
          </a:r>
          <a:r>
            <a:rPr lang="en-US" b="1"/>
            <a:t>512-byte (256-dimension)</a:t>
          </a:r>
          <a:r>
            <a:rPr lang="en-US"/>
            <a:t> mathematical feature vector.</a:t>
          </a:r>
        </a:p>
      </dgm:t>
    </dgm:pt>
    <dgm:pt modelId="{77D3EBAE-F59D-4BE0-AA95-7F24CAA38C51}" type="parTrans" cxnId="{13E96A4D-0748-41BA-AB6D-7B811CA96CF3}">
      <dgm:prSet/>
      <dgm:spPr/>
      <dgm:t>
        <a:bodyPr/>
        <a:lstStyle/>
        <a:p>
          <a:endParaRPr lang="en-US"/>
        </a:p>
      </dgm:t>
    </dgm:pt>
    <dgm:pt modelId="{EDD0C0DD-EAA3-4FA4-882E-F0C8591B2B77}" type="sibTrans" cxnId="{13E96A4D-0748-41BA-AB6D-7B811CA96CF3}">
      <dgm:prSet/>
      <dgm:spPr/>
      <dgm:t>
        <a:bodyPr/>
        <a:lstStyle/>
        <a:p>
          <a:endParaRPr lang="en-US"/>
        </a:p>
      </dgm:t>
    </dgm:pt>
    <dgm:pt modelId="{0B3DF053-7F2B-4ACD-8E07-C01E7B949730}" type="pres">
      <dgm:prSet presAssocID="{B924856B-7FC4-4AB3-981E-3AD15F8C4838}" presName="Name0" presStyleCnt="0">
        <dgm:presLayoutVars>
          <dgm:dir/>
          <dgm:resizeHandles val="exact"/>
        </dgm:presLayoutVars>
      </dgm:prSet>
      <dgm:spPr/>
    </dgm:pt>
    <dgm:pt modelId="{3624A719-78A0-4608-80ED-7E1B53B9B3BF}" type="pres">
      <dgm:prSet presAssocID="{873BD1F6-D84E-4C87-B0D9-DC670A35C517}" presName="node" presStyleLbl="node1" presStyleIdx="0" presStyleCnt="6">
        <dgm:presLayoutVars>
          <dgm:bulletEnabled val="1"/>
        </dgm:presLayoutVars>
      </dgm:prSet>
      <dgm:spPr/>
    </dgm:pt>
    <dgm:pt modelId="{D531D911-2F37-4E19-BCFB-DAA4441BF944}" type="pres">
      <dgm:prSet presAssocID="{5714CC75-910C-4B2C-8C89-6231CD45B2E6}" presName="sibTrans" presStyleLbl="sibTrans1D1" presStyleIdx="0" presStyleCnt="5"/>
      <dgm:spPr/>
    </dgm:pt>
    <dgm:pt modelId="{6B2E5C9B-BA7E-441D-9D73-CD6F2F3615E4}" type="pres">
      <dgm:prSet presAssocID="{5714CC75-910C-4B2C-8C89-6231CD45B2E6}" presName="connectorText" presStyleLbl="sibTrans1D1" presStyleIdx="0" presStyleCnt="5"/>
      <dgm:spPr/>
    </dgm:pt>
    <dgm:pt modelId="{A7E0B833-84BD-42F0-81BC-505209F56A9B}" type="pres">
      <dgm:prSet presAssocID="{E8F421DE-36A6-4F4D-8EE2-FC20F75893E6}" presName="node" presStyleLbl="node1" presStyleIdx="1" presStyleCnt="6">
        <dgm:presLayoutVars>
          <dgm:bulletEnabled val="1"/>
        </dgm:presLayoutVars>
      </dgm:prSet>
      <dgm:spPr/>
    </dgm:pt>
    <dgm:pt modelId="{11D5B6F5-52B9-4634-9220-DF84E6534E5B}" type="pres">
      <dgm:prSet presAssocID="{D7613128-52BB-4356-A17F-6C951EF0DA8E}" presName="sibTrans" presStyleLbl="sibTrans1D1" presStyleIdx="1" presStyleCnt="5"/>
      <dgm:spPr/>
    </dgm:pt>
    <dgm:pt modelId="{0B6CAD3C-DE76-49AB-9A79-2F8367A33055}" type="pres">
      <dgm:prSet presAssocID="{D7613128-52BB-4356-A17F-6C951EF0DA8E}" presName="connectorText" presStyleLbl="sibTrans1D1" presStyleIdx="1" presStyleCnt="5"/>
      <dgm:spPr/>
    </dgm:pt>
    <dgm:pt modelId="{836C8B87-073F-4868-97B8-8C38E6EFEB51}" type="pres">
      <dgm:prSet presAssocID="{3BF02375-E414-4330-BF1B-E654397930D1}" presName="node" presStyleLbl="node1" presStyleIdx="2" presStyleCnt="6">
        <dgm:presLayoutVars>
          <dgm:bulletEnabled val="1"/>
        </dgm:presLayoutVars>
      </dgm:prSet>
      <dgm:spPr/>
    </dgm:pt>
    <dgm:pt modelId="{70C15EC0-2A93-4867-9A23-F30CED5D4FA3}" type="pres">
      <dgm:prSet presAssocID="{39955648-0EA6-4998-836F-963531CC82BB}" presName="sibTrans" presStyleLbl="sibTrans1D1" presStyleIdx="2" presStyleCnt="5"/>
      <dgm:spPr/>
    </dgm:pt>
    <dgm:pt modelId="{7C05010A-2132-4F15-915A-58F5BE0F294E}" type="pres">
      <dgm:prSet presAssocID="{39955648-0EA6-4998-836F-963531CC82BB}" presName="connectorText" presStyleLbl="sibTrans1D1" presStyleIdx="2" presStyleCnt="5"/>
      <dgm:spPr/>
    </dgm:pt>
    <dgm:pt modelId="{E40A0EB7-6531-4CBB-8AA5-DE1F0EB7A144}" type="pres">
      <dgm:prSet presAssocID="{4AF89191-8A37-4499-BD45-2E261574449F}" presName="node" presStyleLbl="node1" presStyleIdx="3" presStyleCnt="6">
        <dgm:presLayoutVars>
          <dgm:bulletEnabled val="1"/>
        </dgm:presLayoutVars>
      </dgm:prSet>
      <dgm:spPr/>
    </dgm:pt>
    <dgm:pt modelId="{B888D4EA-A575-4568-8723-6A1ADC0F6353}" type="pres">
      <dgm:prSet presAssocID="{AFA1CD4E-01D0-4BE4-986C-E435479D9CE2}" presName="sibTrans" presStyleLbl="sibTrans1D1" presStyleIdx="3" presStyleCnt="5"/>
      <dgm:spPr/>
    </dgm:pt>
    <dgm:pt modelId="{D5865114-B7FB-466E-AC4C-8DED43D2C580}" type="pres">
      <dgm:prSet presAssocID="{AFA1CD4E-01D0-4BE4-986C-E435479D9CE2}" presName="connectorText" presStyleLbl="sibTrans1D1" presStyleIdx="3" presStyleCnt="5"/>
      <dgm:spPr/>
    </dgm:pt>
    <dgm:pt modelId="{6FDA8F78-55AA-4085-A07C-F2173F743139}" type="pres">
      <dgm:prSet presAssocID="{BB1E2642-D01E-4D86-86E1-0984E10D4B0D}" presName="node" presStyleLbl="node1" presStyleIdx="4" presStyleCnt="6">
        <dgm:presLayoutVars>
          <dgm:bulletEnabled val="1"/>
        </dgm:presLayoutVars>
      </dgm:prSet>
      <dgm:spPr/>
    </dgm:pt>
    <dgm:pt modelId="{7A1EA477-9045-446A-8DA0-C67E9C649032}" type="pres">
      <dgm:prSet presAssocID="{2FF4E4E9-A95E-4E60-B9F8-CD9B395B6B74}" presName="sibTrans" presStyleLbl="sibTrans1D1" presStyleIdx="4" presStyleCnt="5"/>
      <dgm:spPr/>
    </dgm:pt>
    <dgm:pt modelId="{EE1054C5-0BF1-4D67-9037-7345E5BC1464}" type="pres">
      <dgm:prSet presAssocID="{2FF4E4E9-A95E-4E60-B9F8-CD9B395B6B74}" presName="connectorText" presStyleLbl="sibTrans1D1" presStyleIdx="4" presStyleCnt="5"/>
      <dgm:spPr/>
    </dgm:pt>
    <dgm:pt modelId="{717222B2-5DB8-4D23-98E8-8F4EED915F66}" type="pres">
      <dgm:prSet presAssocID="{9D154839-6066-4D45-A627-09ACBB8AA5C2}" presName="node" presStyleLbl="node1" presStyleIdx="5" presStyleCnt="6">
        <dgm:presLayoutVars>
          <dgm:bulletEnabled val="1"/>
        </dgm:presLayoutVars>
      </dgm:prSet>
      <dgm:spPr/>
    </dgm:pt>
  </dgm:ptLst>
  <dgm:cxnLst>
    <dgm:cxn modelId="{2D740510-C3BF-4595-8828-DA8C30BC1435}" srcId="{B924856B-7FC4-4AB3-981E-3AD15F8C4838}" destId="{3BF02375-E414-4330-BF1B-E654397930D1}" srcOrd="2" destOrd="0" parTransId="{F4427345-2C73-4884-A213-1CD30BFD5BE2}" sibTransId="{39955648-0EA6-4998-836F-963531CC82BB}"/>
    <dgm:cxn modelId="{C2872124-CB1C-48F7-AEA6-89C73B375775}" type="presOf" srcId="{3BF02375-E414-4330-BF1B-E654397930D1}" destId="{836C8B87-073F-4868-97B8-8C38E6EFEB51}" srcOrd="0" destOrd="0" presId="urn:microsoft.com/office/officeart/2016/7/layout/RepeatingBendingProcessNew"/>
    <dgm:cxn modelId="{FA637725-4CED-4EF2-A326-9106F1175DCB}" srcId="{B924856B-7FC4-4AB3-981E-3AD15F8C4838}" destId="{BB1E2642-D01E-4D86-86E1-0984E10D4B0D}" srcOrd="4" destOrd="0" parTransId="{E07EACD6-661A-4345-8A3F-8C4D04BB6E14}" sibTransId="{2FF4E4E9-A95E-4E60-B9F8-CD9B395B6B74}"/>
    <dgm:cxn modelId="{6E1FB526-C002-4435-9BD8-EEDDF6180074}" type="presOf" srcId="{9D154839-6066-4D45-A627-09ACBB8AA5C2}" destId="{717222B2-5DB8-4D23-98E8-8F4EED915F66}" srcOrd="0" destOrd="0" presId="urn:microsoft.com/office/officeart/2016/7/layout/RepeatingBendingProcessNew"/>
    <dgm:cxn modelId="{C297A83F-3CE8-4418-993D-D10A949E3CED}" type="presOf" srcId="{AFA1CD4E-01D0-4BE4-986C-E435479D9CE2}" destId="{B888D4EA-A575-4568-8723-6A1ADC0F6353}" srcOrd="0" destOrd="0" presId="urn:microsoft.com/office/officeart/2016/7/layout/RepeatingBendingProcessNew"/>
    <dgm:cxn modelId="{DDB0FF46-C2DF-4D15-AF42-EC0265933581}" type="presOf" srcId="{D7613128-52BB-4356-A17F-6C951EF0DA8E}" destId="{11D5B6F5-52B9-4634-9220-DF84E6534E5B}" srcOrd="0" destOrd="0" presId="urn:microsoft.com/office/officeart/2016/7/layout/RepeatingBendingProcessNew"/>
    <dgm:cxn modelId="{F30BA547-D8F5-44E9-A853-6FA1217DB81A}" type="presOf" srcId="{AFA1CD4E-01D0-4BE4-986C-E435479D9CE2}" destId="{D5865114-B7FB-466E-AC4C-8DED43D2C580}" srcOrd="1" destOrd="0" presId="urn:microsoft.com/office/officeart/2016/7/layout/RepeatingBendingProcessNew"/>
    <dgm:cxn modelId="{B5471C6A-1A79-4155-B924-69CADBC9C431}" type="presOf" srcId="{2FF4E4E9-A95E-4E60-B9F8-CD9B395B6B74}" destId="{EE1054C5-0BF1-4D67-9037-7345E5BC1464}" srcOrd="1" destOrd="0" presId="urn:microsoft.com/office/officeart/2016/7/layout/RepeatingBendingProcessNew"/>
    <dgm:cxn modelId="{F38A516B-E684-4899-9251-53FD42F6B50C}" type="presOf" srcId="{39955648-0EA6-4998-836F-963531CC82BB}" destId="{7C05010A-2132-4F15-915A-58F5BE0F294E}" srcOrd="1" destOrd="0" presId="urn:microsoft.com/office/officeart/2016/7/layout/RepeatingBendingProcessNew"/>
    <dgm:cxn modelId="{13E96A4D-0748-41BA-AB6D-7B811CA96CF3}" srcId="{B924856B-7FC4-4AB3-981E-3AD15F8C4838}" destId="{9D154839-6066-4D45-A627-09ACBB8AA5C2}" srcOrd="5" destOrd="0" parTransId="{77D3EBAE-F59D-4BE0-AA95-7F24CAA38C51}" sibTransId="{EDD0C0DD-EAA3-4FA4-882E-F0C8591B2B77}"/>
    <dgm:cxn modelId="{44E67F54-189C-4370-AAFE-DD0D50B3D96E}" type="presOf" srcId="{4AF89191-8A37-4499-BD45-2E261574449F}" destId="{E40A0EB7-6531-4CBB-8AA5-DE1F0EB7A144}" srcOrd="0" destOrd="0" presId="urn:microsoft.com/office/officeart/2016/7/layout/RepeatingBendingProcessNew"/>
    <dgm:cxn modelId="{B47A9878-186F-4E2B-BCF5-BE88BAAFA783}" type="presOf" srcId="{873BD1F6-D84E-4C87-B0D9-DC670A35C517}" destId="{3624A719-78A0-4608-80ED-7E1B53B9B3BF}" srcOrd="0" destOrd="0" presId="urn:microsoft.com/office/officeart/2016/7/layout/RepeatingBendingProcessNew"/>
    <dgm:cxn modelId="{5DBF428F-F1A4-4ED9-82D6-38D76C993D7A}" srcId="{B924856B-7FC4-4AB3-981E-3AD15F8C4838}" destId="{873BD1F6-D84E-4C87-B0D9-DC670A35C517}" srcOrd="0" destOrd="0" parTransId="{5C36F5F3-4BDD-4795-9CA1-A5DCDD670110}" sibTransId="{5714CC75-910C-4B2C-8C89-6231CD45B2E6}"/>
    <dgm:cxn modelId="{96E73F93-7270-47FF-8E2B-DA17B658CB68}" type="presOf" srcId="{5714CC75-910C-4B2C-8C89-6231CD45B2E6}" destId="{6B2E5C9B-BA7E-441D-9D73-CD6F2F3615E4}" srcOrd="1" destOrd="0" presId="urn:microsoft.com/office/officeart/2016/7/layout/RepeatingBendingProcessNew"/>
    <dgm:cxn modelId="{2A709095-EACB-438E-B3BE-469F19508D7B}" type="presOf" srcId="{E8F421DE-36A6-4F4D-8EE2-FC20F75893E6}" destId="{A7E0B833-84BD-42F0-81BC-505209F56A9B}" srcOrd="0" destOrd="0" presId="urn:microsoft.com/office/officeart/2016/7/layout/RepeatingBendingProcessNew"/>
    <dgm:cxn modelId="{A816309A-7FFC-4B42-B9D5-921496AAB4DD}" type="presOf" srcId="{5714CC75-910C-4B2C-8C89-6231CD45B2E6}" destId="{D531D911-2F37-4E19-BCFB-DAA4441BF944}" srcOrd="0" destOrd="0" presId="urn:microsoft.com/office/officeart/2016/7/layout/RepeatingBendingProcessNew"/>
    <dgm:cxn modelId="{E527A39B-6C7A-4639-B09D-227114361F5A}" srcId="{B924856B-7FC4-4AB3-981E-3AD15F8C4838}" destId="{4AF89191-8A37-4499-BD45-2E261574449F}" srcOrd="3" destOrd="0" parTransId="{07F86749-93A0-4600-B9F8-6099D54AC62D}" sibTransId="{AFA1CD4E-01D0-4BE4-986C-E435479D9CE2}"/>
    <dgm:cxn modelId="{C39DC89E-8541-4F70-A3E9-6813C1A89487}" type="presOf" srcId="{39955648-0EA6-4998-836F-963531CC82BB}" destId="{70C15EC0-2A93-4867-9A23-F30CED5D4FA3}" srcOrd="0" destOrd="0" presId="urn:microsoft.com/office/officeart/2016/7/layout/RepeatingBendingProcessNew"/>
    <dgm:cxn modelId="{E87F22A3-FB0E-49E8-AA7F-2D2F9C542A92}" type="presOf" srcId="{D7613128-52BB-4356-A17F-6C951EF0DA8E}" destId="{0B6CAD3C-DE76-49AB-9A79-2F8367A33055}" srcOrd="1" destOrd="0" presId="urn:microsoft.com/office/officeart/2016/7/layout/RepeatingBendingProcessNew"/>
    <dgm:cxn modelId="{C90CD2C2-B4F4-493E-9BD4-BFA033ABF0F4}" type="presOf" srcId="{BB1E2642-D01E-4D86-86E1-0984E10D4B0D}" destId="{6FDA8F78-55AA-4085-A07C-F2173F743139}" srcOrd="0" destOrd="0" presId="urn:microsoft.com/office/officeart/2016/7/layout/RepeatingBendingProcessNew"/>
    <dgm:cxn modelId="{BC5A54D3-E4D2-44B5-9FD9-E20B8C1189A1}" type="presOf" srcId="{B924856B-7FC4-4AB3-981E-3AD15F8C4838}" destId="{0B3DF053-7F2B-4ACD-8E07-C01E7B949730}" srcOrd="0" destOrd="0" presId="urn:microsoft.com/office/officeart/2016/7/layout/RepeatingBendingProcessNew"/>
    <dgm:cxn modelId="{D7AEAED7-7D08-4824-8F3F-BF1464F1F7A3}" srcId="{B924856B-7FC4-4AB3-981E-3AD15F8C4838}" destId="{E8F421DE-36A6-4F4D-8EE2-FC20F75893E6}" srcOrd="1" destOrd="0" parTransId="{89F37BA9-72BA-408B-8FAD-AF15DF39BF61}" sibTransId="{D7613128-52BB-4356-A17F-6C951EF0DA8E}"/>
    <dgm:cxn modelId="{4C17D3FE-B250-4D5E-B608-ADEAEF34F96F}" type="presOf" srcId="{2FF4E4E9-A95E-4E60-B9F8-CD9B395B6B74}" destId="{7A1EA477-9045-446A-8DA0-C67E9C649032}" srcOrd="0" destOrd="0" presId="urn:microsoft.com/office/officeart/2016/7/layout/RepeatingBendingProcessNew"/>
    <dgm:cxn modelId="{A0264B0D-DDBC-427B-95B7-3867A1684E31}" type="presParOf" srcId="{0B3DF053-7F2B-4ACD-8E07-C01E7B949730}" destId="{3624A719-78A0-4608-80ED-7E1B53B9B3BF}" srcOrd="0" destOrd="0" presId="urn:microsoft.com/office/officeart/2016/7/layout/RepeatingBendingProcessNew"/>
    <dgm:cxn modelId="{36E081E7-C31E-425B-BD17-72EE6D9449F0}" type="presParOf" srcId="{0B3DF053-7F2B-4ACD-8E07-C01E7B949730}" destId="{D531D911-2F37-4E19-BCFB-DAA4441BF944}" srcOrd="1" destOrd="0" presId="urn:microsoft.com/office/officeart/2016/7/layout/RepeatingBendingProcessNew"/>
    <dgm:cxn modelId="{76960033-0CCF-4F68-9A36-B19F616CCC38}" type="presParOf" srcId="{D531D911-2F37-4E19-BCFB-DAA4441BF944}" destId="{6B2E5C9B-BA7E-441D-9D73-CD6F2F3615E4}" srcOrd="0" destOrd="0" presId="urn:microsoft.com/office/officeart/2016/7/layout/RepeatingBendingProcessNew"/>
    <dgm:cxn modelId="{68C4A7D8-8B18-49D5-93A4-DD9D8BF1E2CA}" type="presParOf" srcId="{0B3DF053-7F2B-4ACD-8E07-C01E7B949730}" destId="{A7E0B833-84BD-42F0-81BC-505209F56A9B}" srcOrd="2" destOrd="0" presId="urn:microsoft.com/office/officeart/2016/7/layout/RepeatingBendingProcessNew"/>
    <dgm:cxn modelId="{3A8120F9-C8F3-4250-9563-4CEFE720F9B3}" type="presParOf" srcId="{0B3DF053-7F2B-4ACD-8E07-C01E7B949730}" destId="{11D5B6F5-52B9-4634-9220-DF84E6534E5B}" srcOrd="3" destOrd="0" presId="urn:microsoft.com/office/officeart/2016/7/layout/RepeatingBendingProcessNew"/>
    <dgm:cxn modelId="{B3D7C40F-2803-426B-B76E-5B580D66A5B9}" type="presParOf" srcId="{11D5B6F5-52B9-4634-9220-DF84E6534E5B}" destId="{0B6CAD3C-DE76-49AB-9A79-2F8367A33055}" srcOrd="0" destOrd="0" presId="urn:microsoft.com/office/officeart/2016/7/layout/RepeatingBendingProcessNew"/>
    <dgm:cxn modelId="{EF0BD660-1128-4808-BA10-1620603091A5}" type="presParOf" srcId="{0B3DF053-7F2B-4ACD-8E07-C01E7B949730}" destId="{836C8B87-073F-4868-97B8-8C38E6EFEB51}" srcOrd="4" destOrd="0" presId="urn:microsoft.com/office/officeart/2016/7/layout/RepeatingBendingProcessNew"/>
    <dgm:cxn modelId="{C0D3CC28-A07B-4984-B434-88B4DDC55B8A}" type="presParOf" srcId="{0B3DF053-7F2B-4ACD-8E07-C01E7B949730}" destId="{70C15EC0-2A93-4867-9A23-F30CED5D4FA3}" srcOrd="5" destOrd="0" presId="urn:microsoft.com/office/officeart/2016/7/layout/RepeatingBendingProcessNew"/>
    <dgm:cxn modelId="{F4566703-3C66-4EF6-920F-B9F871157CF3}" type="presParOf" srcId="{70C15EC0-2A93-4867-9A23-F30CED5D4FA3}" destId="{7C05010A-2132-4F15-915A-58F5BE0F294E}" srcOrd="0" destOrd="0" presId="urn:microsoft.com/office/officeart/2016/7/layout/RepeatingBendingProcessNew"/>
    <dgm:cxn modelId="{A32D6F80-8490-479C-832B-5663498EF6F8}" type="presParOf" srcId="{0B3DF053-7F2B-4ACD-8E07-C01E7B949730}" destId="{E40A0EB7-6531-4CBB-8AA5-DE1F0EB7A144}" srcOrd="6" destOrd="0" presId="urn:microsoft.com/office/officeart/2016/7/layout/RepeatingBendingProcessNew"/>
    <dgm:cxn modelId="{2025F9D1-460F-453B-9A1F-E1F7A426E8CD}" type="presParOf" srcId="{0B3DF053-7F2B-4ACD-8E07-C01E7B949730}" destId="{B888D4EA-A575-4568-8723-6A1ADC0F6353}" srcOrd="7" destOrd="0" presId="urn:microsoft.com/office/officeart/2016/7/layout/RepeatingBendingProcessNew"/>
    <dgm:cxn modelId="{997B1A5A-C2DE-449E-8905-394CA4351EAE}" type="presParOf" srcId="{B888D4EA-A575-4568-8723-6A1ADC0F6353}" destId="{D5865114-B7FB-466E-AC4C-8DED43D2C580}" srcOrd="0" destOrd="0" presId="urn:microsoft.com/office/officeart/2016/7/layout/RepeatingBendingProcessNew"/>
    <dgm:cxn modelId="{E26B04C9-2222-48A7-B01B-DBEC5C6737B1}" type="presParOf" srcId="{0B3DF053-7F2B-4ACD-8E07-C01E7B949730}" destId="{6FDA8F78-55AA-4085-A07C-F2173F743139}" srcOrd="8" destOrd="0" presId="urn:microsoft.com/office/officeart/2016/7/layout/RepeatingBendingProcessNew"/>
    <dgm:cxn modelId="{390BAC6C-9EF4-406F-BB08-C1D64C705D9A}" type="presParOf" srcId="{0B3DF053-7F2B-4ACD-8E07-C01E7B949730}" destId="{7A1EA477-9045-446A-8DA0-C67E9C649032}" srcOrd="9" destOrd="0" presId="urn:microsoft.com/office/officeart/2016/7/layout/RepeatingBendingProcessNew"/>
    <dgm:cxn modelId="{D284767F-6D93-4316-906F-6089740785B8}" type="presParOf" srcId="{7A1EA477-9045-446A-8DA0-C67E9C649032}" destId="{EE1054C5-0BF1-4D67-9037-7345E5BC1464}" srcOrd="0" destOrd="0" presId="urn:microsoft.com/office/officeart/2016/7/layout/RepeatingBendingProcessNew"/>
    <dgm:cxn modelId="{0FEF64DE-8F28-4FE0-B3B6-D52CD0807161}" type="presParOf" srcId="{0B3DF053-7F2B-4ACD-8E07-C01E7B949730}" destId="{717222B2-5DB8-4D23-98E8-8F4EED915F6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1D911-2F37-4E19-BCFB-DAA4441BF944}">
      <dsp:nvSpPr>
        <dsp:cNvPr id="0" name=""/>
        <dsp:cNvSpPr/>
      </dsp:nvSpPr>
      <dsp:spPr>
        <a:xfrm>
          <a:off x="3243197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827002"/>
        <a:ext cx="31708" cy="6341"/>
      </dsp:txXfrm>
    </dsp:sp>
    <dsp:sp modelId="{3624A719-78A0-4608-80ED-7E1B53B9B3BF}">
      <dsp:nvSpPr>
        <dsp:cNvPr id="0" name=""/>
        <dsp:cNvSpPr/>
      </dsp:nvSpPr>
      <dsp:spPr>
        <a:xfrm>
          <a:off x="487732" y="2994"/>
          <a:ext cx="2757264" cy="16543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system follows a strict pipeline to convert a camera frame into a secure lock trigger:</a:t>
          </a:r>
        </a:p>
      </dsp:txBody>
      <dsp:txXfrm>
        <a:off x="487732" y="2994"/>
        <a:ext cx="2757264" cy="1654358"/>
      </dsp:txXfrm>
    </dsp:sp>
    <dsp:sp modelId="{11D5B6F5-52B9-4634-9220-DF84E6534E5B}">
      <dsp:nvSpPr>
        <dsp:cNvPr id="0" name=""/>
        <dsp:cNvSpPr/>
      </dsp:nvSpPr>
      <dsp:spPr>
        <a:xfrm>
          <a:off x="6634632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827002"/>
        <a:ext cx="31708" cy="6341"/>
      </dsp:txXfrm>
    </dsp:sp>
    <dsp:sp modelId="{A7E0B833-84BD-42F0-81BC-505209F56A9B}">
      <dsp:nvSpPr>
        <dsp:cNvPr id="0" name=""/>
        <dsp:cNvSpPr/>
      </dsp:nvSpPr>
      <dsp:spPr>
        <a:xfrm>
          <a:off x="3879167" y="2994"/>
          <a:ext cx="2757264" cy="165435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Capture:</a:t>
          </a:r>
          <a:r>
            <a:rPr lang="en-US" sz="1900" kern="1200"/>
            <a:t> Raw JPEG from the OV2640 sensor.</a:t>
          </a:r>
        </a:p>
      </dsp:txBody>
      <dsp:txXfrm>
        <a:off x="3879167" y="2994"/>
        <a:ext cx="2757264" cy="1654358"/>
      </dsp:txXfrm>
    </dsp:sp>
    <dsp:sp modelId="{70C15EC0-2A93-4867-9A23-F30CED5D4FA3}">
      <dsp:nvSpPr>
        <dsp:cNvPr id="0" name=""/>
        <dsp:cNvSpPr/>
      </dsp:nvSpPr>
      <dsp:spPr>
        <a:xfrm>
          <a:off x="1866364" y="1655552"/>
          <a:ext cx="6782870" cy="603570"/>
        </a:xfrm>
        <a:custGeom>
          <a:avLst/>
          <a:gdLst/>
          <a:ahLst/>
          <a:cxnLst/>
          <a:rect l="0" t="0" r="0" b="0"/>
          <a:pathLst>
            <a:path>
              <a:moveTo>
                <a:pt x="6782870" y="0"/>
              </a:moveTo>
              <a:lnTo>
                <a:pt x="6782870" y="318885"/>
              </a:lnTo>
              <a:lnTo>
                <a:pt x="0" y="318885"/>
              </a:lnTo>
              <a:lnTo>
                <a:pt x="0" y="60357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7488" y="1954167"/>
        <a:ext cx="340622" cy="6341"/>
      </dsp:txXfrm>
    </dsp:sp>
    <dsp:sp modelId="{836C8B87-073F-4868-97B8-8C38E6EFEB51}">
      <dsp:nvSpPr>
        <dsp:cNvPr id="0" name=""/>
        <dsp:cNvSpPr/>
      </dsp:nvSpPr>
      <dsp:spPr>
        <a:xfrm>
          <a:off x="7270602" y="2994"/>
          <a:ext cx="2757264" cy="165435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Preprocessing:</a:t>
          </a:r>
          <a:r>
            <a:rPr lang="en-US" sz="1900" kern="1200"/>
            <a:t> Decompression into an </a:t>
          </a:r>
          <a:r>
            <a:rPr lang="en-US" sz="1900" b="1" kern="1200"/>
            <a:t>RGB888</a:t>
          </a:r>
          <a:r>
            <a:rPr lang="en-US" sz="1900" kern="1200"/>
            <a:t> matrix.</a:t>
          </a:r>
        </a:p>
      </dsp:txBody>
      <dsp:txXfrm>
        <a:off x="7270602" y="2994"/>
        <a:ext cx="2757264" cy="1654358"/>
      </dsp:txXfrm>
    </dsp:sp>
    <dsp:sp modelId="{B888D4EA-A575-4568-8723-6A1ADC0F6353}">
      <dsp:nvSpPr>
        <dsp:cNvPr id="0" name=""/>
        <dsp:cNvSpPr/>
      </dsp:nvSpPr>
      <dsp:spPr>
        <a:xfrm>
          <a:off x="3243197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3115531"/>
        <a:ext cx="31708" cy="6341"/>
      </dsp:txXfrm>
    </dsp:sp>
    <dsp:sp modelId="{E40A0EB7-6531-4CBB-8AA5-DE1F0EB7A144}">
      <dsp:nvSpPr>
        <dsp:cNvPr id="0" name=""/>
        <dsp:cNvSpPr/>
      </dsp:nvSpPr>
      <dsp:spPr>
        <a:xfrm>
          <a:off x="487732" y="2291523"/>
          <a:ext cx="2757264" cy="165435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Detection:</a:t>
          </a:r>
          <a:r>
            <a:rPr lang="en-US" sz="1900" kern="1200"/>
            <a:t> MTMN identifies the bounding box and 5 facial landmarks.</a:t>
          </a:r>
        </a:p>
      </dsp:txBody>
      <dsp:txXfrm>
        <a:off x="487732" y="2291523"/>
        <a:ext cx="2757264" cy="1654358"/>
      </dsp:txXfrm>
    </dsp:sp>
    <dsp:sp modelId="{7A1EA477-9045-446A-8DA0-C67E9C649032}">
      <dsp:nvSpPr>
        <dsp:cNvPr id="0" name=""/>
        <dsp:cNvSpPr/>
      </dsp:nvSpPr>
      <dsp:spPr>
        <a:xfrm>
          <a:off x="6634632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3115531"/>
        <a:ext cx="31708" cy="6341"/>
      </dsp:txXfrm>
    </dsp:sp>
    <dsp:sp modelId="{6FDA8F78-55AA-4085-A07C-F2173F743139}">
      <dsp:nvSpPr>
        <dsp:cNvPr id="0" name=""/>
        <dsp:cNvSpPr/>
      </dsp:nvSpPr>
      <dsp:spPr>
        <a:xfrm>
          <a:off x="3879167" y="2291523"/>
          <a:ext cx="2757264" cy="1654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Alignment:</a:t>
          </a:r>
          <a:r>
            <a:rPr lang="en-US" sz="1900" kern="1200"/>
            <a:t> </a:t>
          </a:r>
          <a:r>
            <a:rPr lang="en-US" sz="1900" b="1" kern="1200"/>
            <a:t>Affine Transformation</a:t>
          </a:r>
          <a:r>
            <a:rPr lang="en-US" sz="1900" kern="1200"/>
            <a:t> straightens the face (correcting for head tilt).</a:t>
          </a:r>
        </a:p>
      </dsp:txBody>
      <dsp:txXfrm>
        <a:off x="3879167" y="2291523"/>
        <a:ext cx="2757264" cy="1654358"/>
      </dsp:txXfrm>
    </dsp:sp>
    <dsp:sp modelId="{717222B2-5DB8-4D23-98E8-8F4EED915F66}">
      <dsp:nvSpPr>
        <dsp:cNvPr id="0" name=""/>
        <dsp:cNvSpPr/>
      </dsp:nvSpPr>
      <dsp:spPr>
        <a:xfrm>
          <a:off x="7270602" y="2291523"/>
          <a:ext cx="2757264" cy="16543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Feature Engineering:</a:t>
          </a:r>
          <a:r>
            <a:rPr lang="en-US" sz="1900" kern="1200"/>
            <a:t> Conversion into a </a:t>
          </a:r>
          <a:r>
            <a:rPr lang="en-US" sz="1900" b="1" kern="1200"/>
            <a:t>512-byte (256-dimension)</a:t>
          </a:r>
          <a:r>
            <a:rPr lang="en-US" sz="1900" kern="1200"/>
            <a:t> mathematical feature vector.</a:t>
          </a:r>
        </a:p>
      </dsp:txBody>
      <dsp:txXfrm>
        <a:off x="7270602" y="2291523"/>
        <a:ext cx="2757264" cy="1654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B26E-135B-0F6A-3C05-864A3616B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7CCCD-22D4-2283-0A28-EFE44BD75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60A09-1F78-8D17-B543-A1FDD22C4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FA41E-D689-D61D-8895-D5208D07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26DC1-A2FB-3C6C-E1CC-B2DFD008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2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6E02-F0DE-B6B7-B6C0-C8460101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D2E0-E05F-F191-A9A9-3F9CC9BF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EE28F-D301-FA30-9DD2-BC2DF72B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BF85E-5A6C-F63A-B81B-4A9AE2C0B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8140-15B9-CBB4-6DCA-90D9384E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16BC-9D60-6092-DECC-EC9E6A08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B4F9B-1E31-E7AE-8116-249D83D99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42725-F394-633B-EEC3-9C3158FE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F8593-7C2E-FE44-4A27-BA68A937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B4DA-8504-9907-4E36-3A3773A9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0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CF06-9F87-ABCA-685C-391E2E65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C27B1-278F-BA61-10A2-0F71E7C98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87361-234F-DC96-9C62-0170482B7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302FC-7EB1-8E09-86F9-A109A56A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B60F2-5FFC-161C-78E9-6E140799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A7478-953E-E28B-CA2A-F302CFCA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4E4B-8AC6-CE39-C072-D2E5191C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4DD2B-15EC-58C1-919A-FC40FCCD4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4751A-B73F-1A6F-9832-7D0BC1475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2AA01-4040-785A-CD53-7D639D52D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4F69A-D990-D577-5DDB-BBF85E20C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486B1-A4C8-29C9-060C-1F0D8336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E377E-F2B1-9D4C-56A2-7646581A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CF801-59EF-678E-0221-76889ED3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7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925BA-E62C-D12B-5955-E5F440D7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D3918-C557-B092-CE92-B3185F8A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D455BB-52BF-AB51-B464-F3CF7E459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90561-3E7B-3533-5DEE-7CD513AA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3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02DDF-0CBD-932B-5963-5CA65F99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8852E-D959-99E8-FD7C-39B78DFA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F761B-1F66-0210-73CF-3566275B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37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C4EB-6925-E5C6-691A-63C5B797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CBD32-BA1D-FA34-B76F-A0A927665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04307-FB87-9BD2-16AD-29B5C5EC7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EEC37-7323-E2BD-3FF5-A012B783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8C33B-D177-92DF-B18F-88609971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487F1-3B64-6036-9585-DEF7A698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1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D0F5-9322-0BFA-2DDD-C7ADB501D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AC19-924F-905F-465A-88421EFB0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598BD-AEDC-F642-68AF-25A478911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B9D23-4F97-BAE0-C356-36195DD2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2EE4C-77B3-F847-4B68-7B013D81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5B047-C009-9BE5-6B06-F2D3C967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97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E558-955B-CB67-D5BE-564EB9F8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A3EBC-C904-B970-9B55-8367F5184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23000-D95F-032A-62C9-A61F3817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B78F9-33B5-3877-B159-79AAE0793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F6EEF-AEC9-143A-46D7-EF8213DE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9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C00E0-9681-D766-1C7E-C171ABC56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5C04A-1E78-5BF5-5F4A-0C01F848E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A18CB-FCD0-30DE-C228-2B646E55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A73D3-C1A5-4261-5F2C-6DC1ACF3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C0A22-A939-1EEF-6C42-081CEF83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3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C3F5E-C28B-E7F8-1642-81BCCBDD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3919A-AD03-587B-DC68-87130E02F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24874-9A68-0C18-DABB-2E08C6D4F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FB253-63EC-4A0A-A07B-30ACBFC70EA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5749-A383-DFFA-1AF5-912AF84AF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E5B49-F011-26E3-A776-12D34EE09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27887-1629-4B9C-A1C9-5A30678B8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3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99FC9-63BC-C70C-1092-8A784BDB4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Facial Recognition Drawer Unlock System: Phase 02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9ADF7-1451-6D3E-B118-B491D6314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6414" y="3808885"/>
            <a:ext cx="5053066" cy="2546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Elijah Ghaya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Ezra </a:t>
            </a:r>
            <a:r>
              <a:rPr lang="en-US" sz="2000" dirty="0" err="1"/>
              <a:t>Bakatubia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Jesus Chavez-Espino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Liqa Hasan Zaidi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7358E-D7D7-78D3-29E7-BD9C68918403}"/>
              </a:ext>
            </a:extLst>
          </p:cNvPr>
          <p:cNvSpPr txBox="1"/>
          <p:nvPr/>
        </p:nvSpPr>
        <p:spPr>
          <a:xfrm>
            <a:off x="6616667" y="2426096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200" b="1" dirty="0"/>
              <a:t>ITAI 2277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8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17664F-181C-0C72-8518-7F472C011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System Overview &amp; Foundations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C21D8AC-6A63-30E0-BED2-00B082B75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Architectural Core: ESP-WHO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Edge AI Framework (ESP-WHO):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A comprehensive development framework for AI applications. It leverages the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MobileFaceNet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model on the ESP32-S3 to perform face detection and recognition locally.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Transfer Learning: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Instead of training a model from scratch, we use "One-Shot Learning." The system is pre-trained to understand "human faces" in general, needing only 5–10 samples to recognize a specific user.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91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B3C73-D086-D155-313C-65BD1E409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Frameworks, Models, and Datasets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D1EB4-487C-BA06-CF32-2DAB067FA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 b="1"/>
              <a:t>The Datasets:</a:t>
            </a:r>
            <a:r>
              <a:rPr lang="en-US" sz="1500"/>
              <a:t> Massive collections like </a:t>
            </a:r>
            <a:r>
              <a:rPr lang="en-US" sz="1500" b="1"/>
              <a:t>WIDER FACE</a:t>
            </a:r>
            <a:r>
              <a:rPr lang="en-US" sz="1500"/>
              <a:t> and </a:t>
            </a:r>
            <a:r>
              <a:rPr lang="en-US" sz="1500" b="1"/>
              <a:t>VGGFace2</a:t>
            </a:r>
            <a:r>
              <a:rPr lang="en-US" sz="1500"/>
              <a:t> (millions of images). These stay on high-power servers and are never stored on the ESP32.</a:t>
            </a:r>
          </a:p>
          <a:p>
            <a:r>
              <a:rPr lang="en-US" sz="1500" b="1"/>
              <a:t>The Models (The Distilled Knowledge):</a:t>
            </a:r>
            <a:r>
              <a:rPr lang="en-US" sz="1500"/>
              <a:t> Small, mathematical files (weights) included in </a:t>
            </a:r>
            <a:r>
              <a:rPr lang="en-US" sz="1500" b="1"/>
              <a:t>ESP-WHO</a:t>
            </a:r>
            <a:r>
              <a:rPr lang="en-US" sz="1500"/>
              <a:t>. think of this as the "intelligence" extracted from the datasets—compact enough to fit in the ESP32-S3's memory.</a:t>
            </a:r>
          </a:p>
          <a:p>
            <a:r>
              <a:rPr lang="en-US" sz="1500" b="1"/>
              <a:t>The Framework (The Toolbox):</a:t>
            </a:r>
            <a:r>
              <a:rPr lang="en-US" sz="1500"/>
              <a:t> </a:t>
            </a:r>
            <a:r>
              <a:rPr lang="en-US" sz="1500" b="1"/>
              <a:t>ESP-WHO</a:t>
            </a:r>
            <a:r>
              <a:rPr lang="en-US" sz="1500"/>
              <a:t> provides the structure and functions (like align_face() or enroll_face()) that allow you to use these models effectively in your C++ code.</a:t>
            </a:r>
          </a:p>
          <a:p>
            <a:endParaRPr lang="en-US" sz="15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8A96DC5-90EA-14B4-420D-23958DE1E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37167"/>
              </p:ext>
            </p:extLst>
          </p:nvPr>
        </p:nvGraphicFramePr>
        <p:xfrm>
          <a:off x="5987738" y="1536773"/>
          <a:ext cx="5628020" cy="35515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1673">
                  <a:extLst>
                    <a:ext uri="{9D8B030D-6E8A-4147-A177-3AD203B41FA5}">
                      <a16:colId xmlns:a16="http://schemas.microsoft.com/office/drawing/2014/main" val="3902484862"/>
                    </a:ext>
                  </a:extLst>
                </a:gridCol>
                <a:gridCol w="1336428">
                  <a:extLst>
                    <a:ext uri="{9D8B030D-6E8A-4147-A177-3AD203B41FA5}">
                      <a16:colId xmlns:a16="http://schemas.microsoft.com/office/drawing/2014/main" val="2519757507"/>
                    </a:ext>
                  </a:extLst>
                </a:gridCol>
                <a:gridCol w="986616">
                  <a:extLst>
                    <a:ext uri="{9D8B030D-6E8A-4147-A177-3AD203B41FA5}">
                      <a16:colId xmlns:a16="http://schemas.microsoft.com/office/drawing/2014/main" val="3733432893"/>
                    </a:ext>
                  </a:extLst>
                </a:gridCol>
                <a:gridCol w="1823303">
                  <a:extLst>
                    <a:ext uri="{9D8B030D-6E8A-4147-A177-3AD203B41FA5}">
                      <a16:colId xmlns:a16="http://schemas.microsoft.com/office/drawing/2014/main" val="4002803849"/>
                    </a:ext>
                  </a:extLst>
                </a:gridCol>
              </a:tblGrid>
              <a:tr h="4165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Component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Dataset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Scale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Purpose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212819"/>
                  </a:ext>
                </a:extLst>
              </a:tr>
              <a:tr h="11235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Detection (MTMN)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WIDER FACE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>
                          <a:effectLst/>
                        </a:rPr>
                        <a:t>393k Faces</a:t>
                      </a: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>
                          <a:effectLst/>
                        </a:rPr>
                        <a:t>Enables detection despite masks, glasses, or low light.</a:t>
                      </a: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372089"/>
                  </a:ext>
                </a:extLst>
              </a:tr>
              <a:tr h="11235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Recognition (FR)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VGGFace2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>
                          <a:effectLst/>
                        </a:rPr>
                        <a:t>3.3M Images</a:t>
                      </a: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>
                          <a:effectLst/>
                        </a:rPr>
                        <a:t>Learns universal facial "deltas" (bone structure, </a:t>
                      </a:r>
                      <a:r>
                        <a:rPr lang="en-US" sz="1500" err="1">
                          <a:effectLst/>
                        </a:rPr>
                        <a:t>etc</a:t>
                      </a:r>
                      <a:r>
                        <a:rPr lang="en-US" sz="1500">
                          <a:effectLst/>
                        </a:rPr>
                        <a:t>).</a:t>
                      </a: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731406"/>
                  </a:ext>
                </a:extLst>
              </a:tr>
              <a:tr h="8878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Alignment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>
                          <a:effectLst/>
                        </a:rPr>
                        <a:t>AFW / PASCAL</a:t>
                      </a:r>
                      <a:endParaRPr lang="en-US" sz="1500">
                        <a:effectLst/>
                      </a:endParaRP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>
                          <a:effectLst/>
                        </a:rPr>
                        <a:t>1.8k Faces</a:t>
                      </a: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>
                          <a:effectLst/>
                        </a:rPr>
                        <a:t>Finds landmarks (eyes, nose) to "level" the face.</a:t>
                      </a:r>
                    </a:p>
                  </a:txBody>
                  <a:tcPr marL="100330" marR="100330" marT="66886" marB="6688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15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55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68ED3-5234-7AA6-7155-75BE5C7E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Models Present in the ESP32-S3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2685-F302-B96C-B9C9-466EFDD9F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900" b="1">
                <a:ea typeface="+mn-lt"/>
                <a:cs typeface="+mn-lt"/>
              </a:rPr>
              <a:t>MTMN (Multi-task Cascaded Convolutional Networks)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The </a:t>
            </a:r>
            <a:r>
              <a:rPr lang="en-US" sz="1900" b="1">
                <a:ea typeface="+mn-lt"/>
                <a:cs typeface="+mn-lt"/>
              </a:rPr>
              <a:t>MTMN (Multi-task Cascaded Convolutional Networks)</a:t>
            </a:r>
            <a:r>
              <a:rPr lang="en-US" sz="1900">
                <a:ea typeface="+mn-lt"/>
                <a:cs typeface="+mn-lt"/>
              </a:rPr>
              <a:t> model which is used for face detection in ESP-WHO was primarily trained on the </a:t>
            </a:r>
            <a:r>
              <a:rPr lang="en-US" sz="1900" b="1">
                <a:ea typeface="+mn-lt"/>
                <a:cs typeface="+mn-lt"/>
              </a:rPr>
              <a:t>WIDER FACE</a:t>
            </a:r>
            <a:r>
              <a:rPr lang="en-US" sz="1900">
                <a:ea typeface="+mn-lt"/>
                <a:cs typeface="+mn-lt"/>
              </a:rPr>
              <a:t> dataset.</a:t>
            </a:r>
            <a:endParaRPr lang="en-US" sz="1900"/>
          </a:p>
          <a:p>
            <a:r>
              <a:rPr lang="en-US" sz="1900" b="1">
                <a:ea typeface="+mn-lt"/>
                <a:cs typeface="+mn-lt"/>
              </a:rPr>
              <a:t>Scale:</a:t>
            </a:r>
            <a:r>
              <a:rPr lang="en-US" sz="1900">
                <a:ea typeface="+mn-lt"/>
                <a:cs typeface="+mn-lt"/>
              </a:rPr>
              <a:t> 32,203 images containing 393,703 labeled faces.</a:t>
            </a:r>
            <a:endParaRPr lang="en-US" sz="1900"/>
          </a:p>
          <a:p>
            <a:r>
              <a:rPr lang="en-US" sz="1900" b="1">
                <a:ea typeface="+mn-lt"/>
                <a:cs typeface="+mn-lt"/>
              </a:rPr>
              <a:t>Purpose:</a:t>
            </a:r>
            <a:r>
              <a:rPr lang="en-US" sz="1900">
                <a:ea typeface="+mn-lt"/>
                <a:cs typeface="+mn-lt"/>
              </a:rPr>
              <a:t> This dataset features high degrees of variability in scale, pose, and occlusion. This is why the ESP32 can detect a face even if you are wearing a mask, glasses, or standing in poor lighting.</a:t>
            </a:r>
            <a:endParaRPr lang="en-US" sz="1900"/>
          </a:p>
          <a:p>
            <a:endParaRPr lang="en-US" sz="19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8AF8E-9605-B780-EC33-38B445DF5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b="1"/>
              <a:t>MobileFaceNet</a:t>
            </a:r>
            <a:endParaRPr lang="en-US" sz="1600"/>
          </a:p>
          <a:p>
            <a:r>
              <a:rPr lang="en-US" sz="1600" dirty="0"/>
              <a:t>The </a:t>
            </a:r>
            <a:r>
              <a:rPr lang="en-US" sz="1600" b="1"/>
              <a:t>MobileFaceNet</a:t>
            </a:r>
            <a:r>
              <a:rPr lang="en-US" sz="1600" dirty="0"/>
              <a:t> architecture, which generates the 512-bytefeature vector (embedding) we are using, was trained on these two massive datasets:</a:t>
            </a:r>
            <a:endParaRPr lang="en-US" sz="1600"/>
          </a:p>
          <a:p>
            <a:r>
              <a:rPr lang="en-US" sz="1600" b="1" dirty="0"/>
              <a:t>MS-Celeb-1M:</a:t>
            </a:r>
            <a:r>
              <a:rPr lang="en-US" sz="1600" dirty="0"/>
              <a:t> Contains 10 million character images of 100k celebrities. It provides the model with a "deep dictionary" of human facial features.</a:t>
            </a:r>
          </a:p>
          <a:p>
            <a:r>
              <a:rPr lang="en-US" sz="1600" b="1" dirty="0"/>
              <a:t>VGGFace2:</a:t>
            </a:r>
            <a:r>
              <a:rPr lang="en-US" sz="1600" dirty="0"/>
              <a:t> Contains 3.31 million images of 9,131 subjects. It is specifically designed to handle large variations in pose and age.</a:t>
            </a:r>
          </a:p>
          <a:p>
            <a:r>
              <a:rPr lang="en-US" sz="1600" b="1" dirty="0"/>
              <a:t>Role in the project:</a:t>
            </a:r>
            <a:r>
              <a:rPr lang="en-US" sz="1600" dirty="0"/>
              <a:t> These datasets taught the AI what a "human face" looks like generally, so that when it sees our face, it only needs to learn the specific mathematical differences (the "delta") that make us unique.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5938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A2519-9BB2-045A-E9E5-05D5AF3D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It Works: Transfer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530F4-4762-9C84-F09F-45FB38353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/>
              <a:t>One-Shot Learning at the Edge</a:t>
            </a:r>
            <a:endParaRPr lang="en-US" sz="2000"/>
          </a:p>
          <a:p>
            <a:r>
              <a:rPr lang="en-US" sz="2000"/>
              <a:t>The XIAO ESP32-S3 Sense uses </a:t>
            </a:r>
            <a:r>
              <a:rPr lang="en-US" sz="2000" b="1"/>
              <a:t>Transfer Learning</a:t>
            </a:r>
            <a:r>
              <a:rPr lang="en-US" sz="2000"/>
              <a:t> to recognize you without needing a supercomputer.</a:t>
            </a:r>
          </a:p>
          <a:p>
            <a:r>
              <a:rPr lang="en-US" sz="2000" b="1"/>
              <a:t>Pre-trained Logic:</a:t>
            </a:r>
            <a:r>
              <a:rPr lang="en-US" sz="2000"/>
              <a:t> By including #include "fr_forward.h", you load a "brain" that already understands human features (eyes, nose, jawline) based on its "childhood" training on massive datasets such as </a:t>
            </a:r>
            <a:r>
              <a:rPr lang="en-US" sz="2000" b="1"/>
              <a:t>WIDERFACE</a:t>
            </a:r>
            <a:r>
              <a:rPr lang="en-US" sz="2000"/>
              <a:t> and </a:t>
            </a:r>
            <a:r>
              <a:rPr lang="en-US" sz="2000" b="1"/>
              <a:t>VGGFace2.</a:t>
            </a:r>
            <a:endParaRPr lang="en-US" sz="2000"/>
          </a:p>
          <a:p>
            <a:r>
              <a:rPr lang="en-US" sz="2000" b="1"/>
              <a:t>Universal Features:</a:t>
            </a:r>
            <a:r>
              <a:rPr lang="en-US" sz="2000"/>
              <a:t> Because it knows what a </a:t>
            </a:r>
            <a:r>
              <a:rPr lang="en-US" sz="2000" i="1"/>
              <a:t>generic</a:t>
            </a:r>
            <a:r>
              <a:rPr lang="en-US" sz="2000"/>
              <a:t> human looks like, it doesn't need to relearn what a face looks like—it only needs to learn your unique measurements.</a:t>
            </a:r>
          </a:p>
          <a:p>
            <a:r>
              <a:rPr lang="en-US" sz="2000" b="1"/>
              <a:t>Local Enrollment:</a:t>
            </a:r>
            <a:r>
              <a:rPr lang="en-US" sz="2000"/>
              <a:t> When you save your face, you aren't "training" a new model. You are simply giving an "educated" AI a new mathematical key to remember in its </a:t>
            </a:r>
            <a:r>
              <a:rPr lang="en-US" sz="2000" b="1"/>
              <a:t>PSRAM</a:t>
            </a:r>
            <a:r>
              <a:rPr lang="en-US" sz="2000"/>
              <a:t>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1770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8563F-E5D3-1FDC-94EA-555511E6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Collection &amp; Engineering Pipeline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6C41C2-FAAB-98A6-60CF-C5C91E809B5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1806843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476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9177E-F5BE-DF86-B739-E009AB0A0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Testing Data Acquisition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DCCEF-4A28-74FE-FFC5-291EDF213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2600"/>
              <a:t>We utilized the Labeled Faces in the Wild (LFW) dataset to establish a robust security baseline.</a:t>
            </a:r>
          </a:p>
          <a:p>
            <a:r>
              <a:rPr lang="en-US" sz="2600"/>
              <a:t>The system was tested against 3,023 samples representing 62</a:t>
            </a:r>
            <a:r>
              <a:rPr lang="en-US" sz="2600" b="1"/>
              <a:t> </a:t>
            </a:r>
            <a:r>
              <a:rPr lang="en-US" sz="2600"/>
              <a:t>unique</a:t>
            </a:r>
            <a:r>
              <a:rPr lang="en-US" sz="2600" b="1"/>
              <a:t> </a:t>
            </a:r>
            <a:r>
              <a:rPr lang="en-US" sz="2600"/>
              <a:t>individuals.</a:t>
            </a:r>
          </a:p>
          <a:p>
            <a:r>
              <a:rPr lang="en-US" sz="2600"/>
              <a:t>While team photos will be enrolled via the mobile framework, the LFW set serves as our "Unauthorized" population to test rejection reliability.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10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D3680-F578-C79A-D968-B36253E7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Technical Implementation (Data Collection)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B34D8-50AA-06A4-FE64-48FFB4FBF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/>
              <a:t>C++ Logic for Face Enrollment</a:t>
            </a:r>
            <a:endParaRPr lang="en-US" sz="1700"/>
          </a:p>
          <a:p>
            <a:r>
              <a:rPr lang="en-US" sz="1700"/>
              <a:t>This routine runs on the </a:t>
            </a:r>
            <a:r>
              <a:rPr lang="en-US" sz="1700" b="1"/>
              <a:t>XIAO ESP32-S3 Sense</a:t>
            </a:r>
            <a:r>
              <a:rPr lang="en-US" sz="1700"/>
              <a:t> to populate the local PSRAM database.</a:t>
            </a:r>
          </a:p>
          <a:p>
            <a:endParaRPr lang="en-US" sz="1700"/>
          </a:p>
          <a:p>
            <a:r>
              <a:rPr lang="en-US" sz="1700"/>
              <a:t>// 1. Feature Engineering: Alignment &amp; Embedding Generation
// This generates the 512-byte (256 * 2 bytes) feature vector
dl_matrix3du_t *aligned_face = dl_matrix3du_alloc(1, 112, 112, 3);
if (align_face(net_boxes, image_matrix, aligned_face) == ESP_OK) {
    // 2. Enrollment (Data Storage in PSRAM)
    // The model measures Euclidean Distance for future matches
    int8_t left_sample = enroll_face(&amp;id_list, aligned_face);
    Serial.printf("Sample Collected. Samples remaining: %d\n", left_sample);
}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536109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E5302-DB85-8DC7-15FB-6C1090781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Privacy, Ethics, and Validation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70AF-17B1-21FD-8384-BE5CA7091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b="1"/>
              <a:t>Secure Biometric Standards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Local-Only Storage:</a:t>
            </a:r>
            <a:r>
              <a:rPr lang="en-US" sz="2200">
                <a:ea typeface="+mn-lt"/>
                <a:cs typeface="+mn-lt"/>
              </a:rPr>
              <a:t> No images or personal data ever leave the device.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Data Minimization:</a:t>
            </a:r>
            <a:r>
              <a:rPr lang="en-US" sz="2200">
                <a:ea typeface="+mn-lt"/>
                <a:cs typeface="+mn-lt"/>
              </a:rPr>
              <a:t> We store </a:t>
            </a:r>
            <a:r>
              <a:rPr lang="en-US" sz="2200" b="1">
                <a:ea typeface="+mn-lt"/>
                <a:cs typeface="+mn-lt"/>
              </a:rPr>
              <a:t>vectors</a:t>
            </a:r>
            <a:r>
              <a:rPr lang="en-US" sz="2200">
                <a:ea typeface="+mn-lt"/>
                <a:cs typeface="+mn-lt"/>
              </a:rPr>
              <a:t>, not photos. It is mathematically impossible to reconstruct a face from the 512-byte hash.</a:t>
            </a:r>
            <a:endParaRPr lang="en-US" sz="2200"/>
          </a:p>
          <a:p>
            <a:pPr marL="0" indent="0">
              <a:buNone/>
            </a:pPr>
            <a:endParaRPr lang="en-US" sz="2200">
              <a:ea typeface="+mn-lt"/>
              <a:cs typeface="+mn-lt"/>
            </a:endParaRPr>
          </a:p>
          <a:p>
            <a:r>
              <a:rPr lang="en-US" sz="2200" b="1">
                <a:ea typeface="+mn-lt"/>
                <a:cs typeface="+mn-lt"/>
              </a:rPr>
              <a:t>Validation Milestone: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>
                <a:ea typeface="+mn-lt"/>
                <a:cs typeface="+mn-lt"/>
              </a:rPr>
              <a:t>Splitting:</a:t>
            </a:r>
            <a:r>
              <a:rPr lang="en-US" sz="2200">
                <a:ea typeface="+mn-lt"/>
                <a:cs typeface="+mn-lt"/>
              </a:rPr>
              <a:t> We will use the "Leave-One-Out" cross-validation during testing. Collect 5 samples; test if 4 samples can correctly recognize the 5th.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>
                <a:ea typeface="+mn-lt"/>
                <a:cs typeface="+mn-lt"/>
              </a:rPr>
              <a:t>Goal:</a:t>
            </a:r>
            <a:r>
              <a:rPr lang="en-US" sz="2200">
                <a:ea typeface="+mn-lt"/>
                <a:cs typeface="+mn-lt"/>
              </a:rPr>
              <a:t> Achieve a </a:t>
            </a:r>
            <a:r>
              <a:rPr lang="en-US" sz="2200" b="1">
                <a:ea typeface="+mn-lt"/>
                <a:cs typeface="+mn-lt"/>
              </a:rPr>
              <a:t>False Acceptance Rate (FAR) &lt; 1%</a:t>
            </a:r>
            <a:r>
              <a:rPr lang="en-US" sz="2200">
                <a:ea typeface="+mn-lt"/>
                <a:cs typeface="+mn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>
                <a:ea typeface="+mn-lt"/>
                <a:cs typeface="+mn-lt"/>
              </a:rPr>
              <a:t>Final Output:</a:t>
            </a:r>
            <a:r>
              <a:rPr lang="en-US" sz="2200">
                <a:ea typeface="+mn-lt"/>
                <a:cs typeface="+mn-lt"/>
              </a:rPr>
              <a:t> A </a:t>
            </a:r>
            <a:r>
              <a:rPr lang="en-US" sz="2200">
                <a:latin typeface="Consolas"/>
              </a:rPr>
              <a:t>face_id_list</a:t>
            </a:r>
            <a:r>
              <a:rPr lang="en-US" sz="2200">
                <a:ea typeface="+mn-lt"/>
                <a:cs typeface="+mn-lt"/>
              </a:rPr>
              <a:t> binary blob saved to Flash memory.   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89214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5C0CC-ADB2-F17B-6FF0-DBB8C644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Data Preprocessing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6858B-05C3-DA71-DA52-02463E3A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Technical Goal:</a:t>
            </a:r>
            <a:r>
              <a:rPr lang="en-US" dirty="0"/>
              <a:t> Optimizing raw image data for the ESP32-S3’s limited computational resources.</a:t>
            </a:r>
          </a:p>
          <a:p>
            <a:r>
              <a:rPr lang="en-US" b="1" dirty="0"/>
              <a:t>Standardization:</a:t>
            </a:r>
            <a:r>
              <a:rPr lang="en-US" dirty="0"/>
              <a:t> Images were resized to a 0.4 ratio, resulting in 1,850 features (pixels) per image.</a:t>
            </a:r>
          </a:p>
          <a:p>
            <a:r>
              <a:rPr lang="en-US" b="1" dirty="0"/>
              <a:t>Detection &amp; Alignment:</a:t>
            </a:r>
            <a:r>
              <a:rPr lang="en-US" dirty="0"/>
              <a:t> We utilized a pipeline to detect facial presence and normalize features, which is critical for consistent mathematical encoding.</a:t>
            </a:r>
          </a:p>
        </p:txBody>
      </p:sp>
    </p:spTree>
    <p:extLst>
      <p:ext uri="{BB962C8B-B14F-4D97-AF65-F5344CB8AC3E}">
        <p14:creationId xmlns:p14="http://schemas.microsoft.com/office/powerpoint/2010/main" val="303771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F669-BA06-6285-C257-86B303E5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94AB-9DDD-F6E7-DB8B-C2E0416F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Security Metric:</a:t>
            </a:r>
            <a:r>
              <a:rPr lang="en-US" dirty="0"/>
              <a:t> We calculated Euclidean</a:t>
            </a:r>
            <a:r>
              <a:rPr lang="en-US" b="1" dirty="0"/>
              <a:t> </a:t>
            </a:r>
            <a:r>
              <a:rPr lang="en-US" dirty="0"/>
              <a:t>Distances between facial encodings to define the boundary between an "Authorized" match and a "Stranger".</a:t>
            </a:r>
          </a:p>
          <a:p>
            <a:r>
              <a:rPr lang="en-US" b="1" dirty="0"/>
              <a:t>Findings:</a:t>
            </a:r>
            <a:r>
              <a:rPr lang="en-US" dirty="0"/>
              <a:t> Our analysis shows that unauthorized individuals (strangers) have a distance score distribution primarily between 8 and 16.</a:t>
            </a:r>
          </a:p>
          <a:p>
            <a:r>
              <a:rPr lang="en-US" b="1" dirty="0"/>
              <a:t>Unlock Threshold:</a:t>
            </a:r>
            <a:r>
              <a:rPr lang="en-US" dirty="0"/>
              <a:t> We have established a strict Unlock Threshold of 20 to ensure high security and minimize false acceptance.</a:t>
            </a:r>
          </a:p>
        </p:txBody>
      </p:sp>
    </p:spTree>
    <p:extLst>
      <p:ext uri="{BB962C8B-B14F-4D97-AF65-F5344CB8AC3E}">
        <p14:creationId xmlns:p14="http://schemas.microsoft.com/office/powerpoint/2010/main" val="690905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214</Words>
  <Application>Microsoft Office PowerPoint</Application>
  <PresentationFormat>Widescreen</PresentationFormat>
  <Paragraphs>15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Facial Recognition Drawer Unlock System: Phase 02 </vt:lpstr>
      <vt:lpstr>System Overview &amp; Foundations</vt:lpstr>
      <vt:lpstr>Frameworks, Models, and Datasets</vt:lpstr>
      <vt:lpstr>Models Present in the ESP32-S3</vt:lpstr>
      <vt:lpstr>How It Works: Transfer Learning</vt:lpstr>
      <vt:lpstr>Data Collection &amp; Engineering Pipeline</vt:lpstr>
      <vt:lpstr>Testing Data Acquisition</vt:lpstr>
      <vt:lpstr>Technical Implementation (Data Collection)</vt:lpstr>
      <vt:lpstr>Privacy, Ethics, and Validation</vt:lpstr>
      <vt:lpstr>Data Preprocessing</vt:lpstr>
      <vt:lpstr>Exploratory Data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jesus.chavezespino-W215634350</dc:creator>
  <cp:lastModifiedBy>jesus.chavezespino-W215634350</cp:lastModifiedBy>
  <cp:revision>246</cp:revision>
  <dcterms:created xsi:type="dcterms:W3CDTF">2026-02-13T23:47:19Z</dcterms:created>
  <dcterms:modified xsi:type="dcterms:W3CDTF">2026-02-19T00:28:42Z</dcterms:modified>
</cp:coreProperties>
</file>