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021AF-B3E5-B1EA-2B5A-3BD6721646D7}" v="80" dt="2026-03-26T00:00:25.822"/>
    <p1510:client id="{7ACE8BC3-2F8A-104C-8464-F3A0BD5DFECC}" v="2" dt="2026-03-26T00:20:18.668"/>
    <p1510:client id="{B4D2A6EB-58E5-476F-8CF3-DACED5F3289E}" v="208" dt="2026-03-25T23:58:09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9FD98A-3D01-4617-89A8-46B5C3D262D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8A31442-FE3C-4B26-AF68-AAD1C899B84F}">
      <dgm:prSet/>
      <dgm:spPr/>
      <dgm:t>
        <a:bodyPr/>
        <a:lstStyle/>
        <a:p>
          <a:r>
            <a:rPr lang="en-US"/>
            <a:t>Finding the Face in the Frame</a:t>
          </a:r>
        </a:p>
      </dgm:t>
    </dgm:pt>
    <dgm:pt modelId="{6226F15D-8857-4017-B0D0-3D366076307E}" type="parTrans" cxnId="{17AAA251-8242-49DB-8134-19E523B14429}">
      <dgm:prSet/>
      <dgm:spPr/>
      <dgm:t>
        <a:bodyPr/>
        <a:lstStyle/>
        <a:p>
          <a:endParaRPr lang="en-US"/>
        </a:p>
      </dgm:t>
    </dgm:pt>
    <dgm:pt modelId="{CAAE8993-FECA-4F5E-8E1C-DDA2BDAC94A9}" type="sibTrans" cxnId="{17AAA251-8242-49DB-8134-19E523B14429}">
      <dgm:prSet/>
      <dgm:spPr/>
      <dgm:t>
        <a:bodyPr/>
        <a:lstStyle/>
        <a:p>
          <a:endParaRPr lang="en-US"/>
        </a:p>
      </dgm:t>
    </dgm:pt>
    <dgm:pt modelId="{95970258-9763-47FF-8B5C-8EA935DD4014}">
      <dgm:prSet/>
      <dgm:spPr/>
      <dgm:t>
        <a:bodyPr/>
        <a:lstStyle/>
        <a:p>
          <a:r>
            <a:rPr lang="en-US" b="1"/>
            <a:t>Detection (MTCNN):</a:t>
          </a:r>
          <a:r>
            <a:rPr lang="en-US"/>
            <a:t> The system first uses a Multi-task Cascaded Convolutional Network to scan the 1600x1200 (UXGA) frame for human facial structures.</a:t>
          </a:r>
        </a:p>
      </dgm:t>
    </dgm:pt>
    <dgm:pt modelId="{CD13FCD8-BF16-4470-8C8B-9D0D3FD01F7E}" type="parTrans" cxnId="{75D28BF7-5E67-4255-B7A2-9469CA8FC777}">
      <dgm:prSet/>
      <dgm:spPr/>
      <dgm:t>
        <a:bodyPr/>
        <a:lstStyle/>
        <a:p>
          <a:endParaRPr lang="en-US"/>
        </a:p>
      </dgm:t>
    </dgm:pt>
    <dgm:pt modelId="{E7DA4534-0D9D-47CD-B409-849B035D7E9D}" type="sibTrans" cxnId="{75D28BF7-5E67-4255-B7A2-9469CA8FC777}">
      <dgm:prSet/>
      <dgm:spPr/>
      <dgm:t>
        <a:bodyPr/>
        <a:lstStyle/>
        <a:p>
          <a:endParaRPr lang="en-US"/>
        </a:p>
      </dgm:t>
    </dgm:pt>
    <dgm:pt modelId="{7F0A8744-2F71-4E10-8938-D84638488DC1}">
      <dgm:prSet/>
      <dgm:spPr/>
      <dgm:t>
        <a:bodyPr/>
        <a:lstStyle/>
        <a:p>
          <a:r>
            <a:rPr lang="en-US" b="1"/>
            <a:t>Feature Extraction:</a:t>
          </a:r>
          <a:r>
            <a:rPr lang="en-US"/>
            <a:t> It identifies key landmarks: the eyes, nose, and mouth corners.</a:t>
          </a:r>
        </a:p>
      </dgm:t>
    </dgm:pt>
    <dgm:pt modelId="{9116E5F8-698B-4031-B4C9-785A67644CF5}" type="parTrans" cxnId="{FA635A14-2A25-4BE4-9800-39EF7CBA2539}">
      <dgm:prSet/>
      <dgm:spPr/>
      <dgm:t>
        <a:bodyPr/>
        <a:lstStyle/>
        <a:p>
          <a:endParaRPr lang="en-US"/>
        </a:p>
      </dgm:t>
    </dgm:pt>
    <dgm:pt modelId="{658D3DE9-8CDD-4F71-A38C-5767147A9614}" type="sibTrans" cxnId="{FA635A14-2A25-4BE4-9800-39EF7CBA2539}">
      <dgm:prSet/>
      <dgm:spPr/>
      <dgm:t>
        <a:bodyPr/>
        <a:lstStyle/>
        <a:p>
          <a:endParaRPr lang="en-US"/>
        </a:p>
      </dgm:t>
    </dgm:pt>
    <dgm:pt modelId="{D6E79C23-E3A9-43BA-8140-CD2A24932AC8}">
      <dgm:prSet/>
      <dgm:spPr/>
      <dgm:t>
        <a:bodyPr/>
        <a:lstStyle/>
        <a:p>
          <a:r>
            <a:rPr lang="en-US" b="1"/>
            <a:t>Alignment:</a:t>
          </a:r>
          <a:r>
            <a:rPr lang="en-US"/>
            <a:t> The image is mathematically cropped, scaled, and rotated so the face is standardized, removing background noise and variations in camera angle.</a:t>
          </a:r>
        </a:p>
      </dgm:t>
    </dgm:pt>
    <dgm:pt modelId="{36A4186D-B366-4C22-82C9-4B1E82CBF451}" type="parTrans" cxnId="{43269B79-6B00-4C80-847E-614141F272F3}">
      <dgm:prSet/>
      <dgm:spPr/>
      <dgm:t>
        <a:bodyPr/>
        <a:lstStyle/>
        <a:p>
          <a:endParaRPr lang="en-US"/>
        </a:p>
      </dgm:t>
    </dgm:pt>
    <dgm:pt modelId="{6EB6D257-4C73-43BF-AB5D-0EE64F3C45D9}" type="sibTrans" cxnId="{43269B79-6B00-4C80-847E-614141F272F3}">
      <dgm:prSet/>
      <dgm:spPr/>
      <dgm:t>
        <a:bodyPr/>
        <a:lstStyle/>
        <a:p>
          <a:endParaRPr lang="en-US"/>
        </a:p>
      </dgm:t>
    </dgm:pt>
    <dgm:pt modelId="{5AE5A8CF-2189-4AA7-8483-2DEE656D65B4}" type="pres">
      <dgm:prSet presAssocID="{B09FD98A-3D01-4617-89A8-46B5C3D262DA}" presName="linear" presStyleCnt="0">
        <dgm:presLayoutVars>
          <dgm:animLvl val="lvl"/>
          <dgm:resizeHandles val="exact"/>
        </dgm:presLayoutVars>
      </dgm:prSet>
      <dgm:spPr/>
    </dgm:pt>
    <dgm:pt modelId="{787847F1-B601-4A25-9877-A47929F56B6C}" type="pres">
      <dgm:prSet presAssocID="{88A31442-FE3C-4B26-AF68-AAD1C899B8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3B71F1F-F388-4964-806E-A7970B6ABA99}" type="pres">
      <dgm:prSet presAssocID="{CAAE8993-FECA-4F5E-8E1C-DDA2BDAC94A9}" presName="spacer" presStyleCnt="0"/>
      <dgm:spPr/>
    </dgm:pt>
    <dgm:pt modelId="{26A2F2B0-7457-49C5-A5EB-F86C2B679AFB}" type="pres">
      <dgm:prSet presAssocID="{95970258-9763-47FF-8B5C-8EA935DD40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D3C5DB6-A07F-47E7-8418-AFA1F3EECE8F}" type="pres">
      <dgm:prSet presAssocID="{E7DA4534-0D9D-47CD-B409-849B035D7E9D}" presName="spacer" presStyleCnt="0"/>
      <dgm:spPr/>
    </dgm:pt>
    <dgm:pt modelId="{B7B4EC89-0646-4A09-A312-CACE2800CE21}" type="pres">
      <dgm:prSet presAssocID="{7F0A8744-2F71-4E10-8938-D84638488DC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04C58B-4A15-4095-AC2E-D1C50A8187B6}" type="pres">
      <dgm:prSet presAssocID="{658D3DE9-8CDD-4F71-A38C-5767147A9614}" presName="spacer" presStyleCnt="0"/>
      <dgm:spPr/>
    </dgm:pt>
    <dgm:pt modelId="{18094B9D-1DAC-4401-A5B3-5F7F0015C520}" type="pres">
      <dgm:prSet presAssocID="{D6E79C23-E3A9-43BA-8140-CD2A24932AC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635A14-2A25-4BE4-9800-39EF7CBA2539}" srcId="{B09FD98A-3D01-4617-89A8-46B5C3D262DA}" destId="{7F0A8744-2F71-4E10-8938-D84638488DC1}" srcOrd="2" destOrd="0" parTransId="{9116E5F8-698B-4031-B4C9-785A67644CF5}" sibTransId="{658D3DE9-8CDD-4F71-A38C-5767147A9614}"/>
    <dgm:cxn modelId="{044BE029-9F89-40BF-A436-32FBB7A68964}" type="presOf" srcId="{D6E79C23-E3A9-43BA-8140-CD2A24932AC8}" destId="{18094B9D-1DAC-4401-A5B3-5F7F0015C520}" srcOrd="0" destOrd="0" presId="urn:microsoft.com/office/officeart/2005/8/layout/vList2"/>
    <dgm:cxn modelId="{648DDC5D-68A5-4C47-BBAF-231E2C082F1E}" type="presOf" srcId="{88A31442-FE3C-4B26-AF68-AAD1C899B84F}" destId="{787847F1-B601-4A25-9877-A47929F56B6C}" srcOrd="0" destOrd="0" presId="urn:microsoft.com/office/officeart/2005/8/layout/vList2"/>
    <dgm:cxn modelId="{17AAA251-8242-49DB-8134-19E523B14429}" srcId="{B09FD98A-3D01-4617-89A8-46B5C3D262DA}" destId="{88A31442-FE3C-4B26-AF68-AAD1C899B84F}" srcOrd="0" destOrd="0" parTransId="{6226F15D-8857-4017-B0D0-3D366076307E}" sibTransId="{CAAE8993-FECA-4F5E-8E1C-DDA2BDAC94A9}"/>
    <dgm:cxn modelId="{43269B79-6B00-4C80-847E-614141F272F3}" srcId="{B09FD98A-3D01-4617-89A8-46B5C3D262DA}" destId="{D6E79C23-E3A9-43BA-8140-CD2A24932AC8}" srcOrd="3" destOrd="0" parTransId="{36A4186D-B366-4C22-82C9-4B1E82CBF451}" sibTransId="{6EB6D257-4C73-43BF-AB5D-0EE64F3C45D9}"/>
    <dgm:cxn modelId="{19DE1DD7-984F-4E2D-90B5-EFC8872D77FA}" type="presOf" srcId="{95970258-9763-47FF-8B5C-8EA935DD4014}" destId="{26A2F2B0-7457-49C5-A5EB-F86C2B679AFB}" srcOrd="0" destOrd="0" presId="urn:microsoft.com/office/officeart/2005/8/layout/vList2"/>
    <dgm:cxn modelId="{E81444DC-D42F-4AEC-A395-D44150D19A17}" type="presOf" srcId="{B09FD98A-3D01-4617-89A8-46B5C3D262DA}" destId="{5AE5A8CF-2189-4AA7-8483-2DEE656D65B4}" srcOrd="0" destOrd="0" presId="urn:microsoft.com/office/officeart/2005/8/layout/vList2"/>
    <dgm:cxn modelId="{99766EEE-C93D-4A1C-9207-821F903FD848}" type="presOf" srcId="{7F0A8744-2F71-4E10-8938-D84638488DC1}" destId="{B7B4EC89-0646-4A09-A312-CACE2800CE21}" srcOrd="0" destOrd="0" presId="urn:microsoft.com/office/officeart/2005/8/layout/vList2"/>
    <dgm:cxn modelId="{75D28BF7-5E67-4255-B7A2-9469CA8FC777}" srcId="{B09FD98A-3D01-4617-89A8-46B5C3D262DA}" destId="{95970258-9763-47FF-8B5C-8EA935DD4014}" srcOrd="1" destOrd="0" parTransId="{CD13FCD8-BF16-4470-8C8B-9D0D3FD01F7E}" sibTransId="{E7DA4534-0D9D-47CD-B409-849B035D7E9D}"/>
    <dgm:cxn modelId="{DF6BF47F-A541-4D60-AE2B-BC47F83F50D0}" type="presParOf" srcId="{5AE5A8CF-2189-4AA7-8483-2DEE656D65B4}" destId="{787847F1-B601-4A25-9877-A47929F56B6C}" srcOrd="0" destOrd="0" presId="urn:microsoft.com/office/officeart/2005/8/layout/vList2"/>
    <dgm:cxn modelId="{315827B4-8114-4F06-93B8-68AD53587C47}" type="presParOf" srcId="{5AE5A8CF-2189-4AA7-8483-2DEE656D65B4}" destId="{F3B71F1F-F388-4964-806E-A7970B6ABA99}" srcOrd="1" destOrd="0" presId="urn:microsoft.com/office/officeart/2005/8/layout/vList2"/>
    <dgm:cxn modelId="{CAF7A07C-D127-41F3-BED1-EE6CDB35BA28}" type="presParOf" srcId="{5AE5A8CF-2189-4AA7-8483-2DEE656D65B4}" destId="{26A2F2B0-7457-49C5-A5EB-F86C2B679AFB}" srcOrd="2" destOrd="0" presId="urn:microsoft.com/office/officeart/2005/8/layout/vList2"/>
    <dgm:cxn modelId="{0F3EE7CF-7253-4EA0-9E3A-D47D39A39303}" type="presParOf" srcId="{5AE5A8CF-2189-4AA7-8483-2DEE656D65B4}" destId="{6D3C5DB6-A07F-47E7-8418-AFA1F3EECE8F}" srcOrd="3" destOrd="0" presId="urn:microsoft.com/office/officeart/2005/8/layout/vList2"/>
    <dgm:cxn modelId="{56A0183A-59CE-4CB5-969F-51EC4923EF5A}" type="presParOf" srcId="{5AE5A8CF-2189-4AA7-8483-2DEE656D65B4}" destId="{B7B4EC89-0646-4A09-A312-CACE2800CE21}" srcOrd="4" destOrd="0" presId="urn:microsoft.com/office/officeart/2005/8/layout/vList2"/>
    <dgm:cxn modelId="{2521265B-8B37-47AC-A05C-3E277AAE753E}" type="presParOf" srcId="{5AE5A8CF-2189-4AA7-8483-2DEE656D65B4}" destId="{DE04C58B-4A15-4095-AC2E-D1C50A8187B6}" srcOrd="5" destOrd="0" presId="urn:microsoft.com/office/officeart/2005/8/layout/vList2"/>
    <dgm:cxn modelId="{AE241B98-1D81-4EF4-94C4-AA691763B798}" type="presParOf" srcId="{5AE5A8CF-2189-4AA7-8483-2DEE656D65B4}" destId="{18094B9D-1DAC-4401-A5B3-5F7F0015C5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847F1-B601-4A25-9877-A47929F56B6C}">
      <dsp:nvSpPr>
        <dsp:cNvPr id="0" name=""/>
        <dsp:cNvSpPr/>
      </dsp:nvSpPr>
      <dsp:spPr>
        <a:xfrm>
          <a:off x="0" y="429259"/>
          <a:ext cx="6666833" cy="11056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Finding the Face in the Frame</a:t>
          </a:r>
        </a:p>
      </dsp:txBody>
      <dsp:txXfrm>
        <a:off x="53973" y="483232"/>
        <a:ext cx="6558887" cy="997704"/>
      </dsp:txXfrm>
    </dsp:sp>
    <dsp:sp modelId="{26A2F2B0-7457-49C5-A5EB-F86C2B679AFB}">
      <dsp:nvSpPr>
        <dsp:cNvPr id="0" name=""/>
        <dsp:cNvSpPr/>
      </dsp:nvSpPr>
      <dsp:spPr>
        <a:xfrm>
          <a:off x="0" y="1592509"/>
          <a:ext cx="6666833" cy="110565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Detection (MTCNN):</a:t>
          </a:r>
          <a:r>
            <a:rPr lang="en-US" sz="2000" kern="1200"/>
            <a:t> The system first uses a Multi-task Cascaded Convolutional Network to scan the 1600x1200 (UXGA) frame for human facial structures.</a:t>
          </a:r>
        </a:p>
      </dsp:txBody>
      <dsp:txXfrm>
        <a:off x="53973" y="1646482"/>
        <a:ext cx="6558887" cy="997704"/>
      </dsp:txXfrm>
    </dsp:sp>
    <dsp:sp modelId="{B7B4EC89-0646-4A09-A312-CACE2800CE21}">
      <dsp:nvSpPr>
        <dsp:cNvPr id="0" name=""/>
        <dsp:cNvSpPr/>
      </dsp:nvSpPr>
      <dsp:spPr>
        <a:xfrm>
          <a:off x="0" y="2755759"/>
          <a:ext cx="6666833" cy="110565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Feature Extraction:</a:t>
          </a:r>
          <a:r>
            <a:rPr lang="en-US" sz="2000" kern="1200"/>
            <a:t> It identifies key landmarks: the eyes, nose, and mouth corners.</a:t>
          </a:r>
        </a:p>
      </dsp:txBody>
      <dsp:txXfrm>
        <a:off x="53973" y="2809732"/>
        <a:ext cx="6558887" cy="997704"/>
      </dsp:txXfrm>
    </dsp:sp>
    <dsp:sp modelId="{18094B9D-1DAC-4401-A5B3-5F7F0015C520}">
      <dsp:nvSpPr>
        <dsp:cNvPr id="0" name=""/>
        <dsp:cNvSpPr/>
      </dsp:nvSpPr>
      <dsp:spPr>
        <a:xfrm>
          <a:off x="0" y="3919010"/>
          <a:ext cx="6666833" cy="110565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Alignment:</a:t>
          </a:r>
          <a:r>
            <a:rPr lang="en-US" sz="2000" kern="1200"/>
            <a:t> The image is mathematically cropped, scaled, and rotated so the face is standardized, removing background noise and variations in camera angle.</a:t>
          </a:r>
        </a:p>
      </dsp:txBody>
      <dsp:txXfrm>
        <a:off x="53973" y="3972983"/>
        <a:ext cx="6558887" cy="997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  <a:ea typeface="+mj-lt"/>
                <a:cs typeface="+mj-lt"/>
              </a:rPr>
              <a:t>Facial Recognition Drawer Unlock System – AI Model</a:t>
            </a:r>
            <a:endParaRPr lang="en-US" sz="74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Implementing CNN-based Face Verification on the XIAO ESP32-S3 Sense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98B82-F75A-24B7-DA19-16E604EB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ED7D31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latin typeface="+mj-lt"/>
                <a:ea typeface="+mj-ea"/>
                <a:cs typeface="+mj-cs"/>
              </a:rPr>
              <a:t>System Overview</a:t>
            </a:r>
            <a:endParaRPr lang="en-US" sz="3600" b="1" kern="1200">
              <a:latin typeface="+mj-lt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20CF6F6-A86A-8A92-B43E-B07157CB7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0494" y="26977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/>
            <a:r>
              <a:rPr lang="en-US" sz="2000" b="1"/>
              <a:t>Transmitter:</a:t>
            </a:r>
            <a:r>
              <a:rPr lang="en-US" sz="2000"/>
              <a:t> XIAO ESP32-S3 Sense processes live video feeds and runs Convolutional Neural Networks (CNNs) locally.</a:t>
            </a:r>
            <a:endParaRPr lang="en-US" sz="2000" b="1"/>
          </a:p>
          <a:p>
            <a:pPr marL="285750"/>
            <a:r>
              <a:rPr lang="en-US" sz="2000" b="1"/>
              <a:t>Receiver:</a:t>
            </a:r>
            <a:r>
              <a:rPr lang="en-US" sz="2000"/>
              <a:t> ESP32-S3 DevKit manages high-voltage (12V) relay logic to actuate the solenoid lock.</a:t>
            </a:r>
          </a:p>
          <a:p>
            <a:pPr marL="285750"/>
            <a:r>
              <a:rPr lang="en-US" sz="2000" b="1"/>
              <a:t>Communication:</a:t>
            </a:r>
            <a:r>
              <a:rPr lang="en-US" sz="2000"/>
              <a:t> Low-latency, peer-to-peer ESP-NOW protocol.</a:t>
            </a:r>
          </a:p>
          <a:p>
            <a:endParaRPr lang="en-US" sz="200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7896BF1-70AB-AC5C-EBBC-16A5DCD6586B}"/>
              </a:ext>
            </a:extLst>
          </p:cNvPr>
          <p:cNvSpPr txBox="1"/>
          <p:nvPr/>
        </p:nvSpPr>
        <p:spPr>
          <a:xfrm>
            <a:off x="1364468" y="3429671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baseline="0"/>
              <a:t>Objective:</a:t>
            </a:r>
            <a:r>
              <a:rPr lang="en-US" sz="2000" baseline="0"/>
              <a:t> To design a secure, router-independent drawer lock actuated by live biometric </a:t>
            </a:r>
            <a:r>
              <a:rPr lang="en-US" sz="2000"/>
              <a:t>facial verification</a:t>
            </a:r>
            <a:r>
              <a:rPr lang="en-US" sz="2000" baseline="0"/>
              <a:t>.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99063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8AA9F-D7ED-73B0-465E-7EFE4B904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The AI Engine: ESP-WHO Framework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ECB91-D439-311C-6C35-8BF7E97C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Bringing Computer Vision to Microcontrollers</a:t>
            </a:r>
            <a:endParaRPr lang="en-US" sz="1800" b="1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What is it?</a:t>
            </a: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 ESP-WHO is an active computer vision framework designed by </a:t>
            </a:r>
            <a:r>
              <a:rPr lang="en-US" sz="1800" err="1">
                <a:solidFill>
                  <a:schemeClr val="bg1"/>
                </a:solidFill>
                <a:ea typeface="+mn-lt"/>
                <a:cs typeface="+mn-lt"/>
              </a:rPr>
              <a:t>Espressif</a:t>
            </a: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 specifically for resource-constrained IoT devices.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Architecture:</a:t>
            </a: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 It relies on a pipeline of lightweight AI models optimized for the ESP32-S3’s vector instructions.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Memory Utilization:</a:t>
            </a: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 We configured the system using the </a:t>
            </a:r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"Huge APP"</a:t>
            </a: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 partition and allocated the heavy matrix multiplications to the board's </a:t>
            </a:r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OPI PSRAM</a:t>
            </a: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94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4A8E-B5BA-2819-6E3B-0FA43F0C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AI Phase 1 - Face Detection &amp; Alignment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411EEF6-D5A3-E2CF-9E9E-8A57368D4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99926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9183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438DF-B41A-EC89-6E81-191950D0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AI Phase 2 - Biometric Encoding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EEF2-76CB-FC08-D51A-AD2B35286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  <a:ea typeface="+mn-lt"/>
                <a:cs typeface="+mn-lt"/>
              </a:rPr>
              <a:t>Converting Biology to Mathematics</a:t>
            </a:r>
            <a:endParaRPr lang="en-US" sz="1600" b="1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The Embedding: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The aligned face is passed through a </a:t>
            </a:r>
            <a:r>
              <a:rPr lang="en-US" sz="1500" err="1">
                <a:solidFill>
                  <a:schemeClr val="tx2"/>
                </a:solidFill>
                <a:ea typeface="+mn-lt"/>
                <a:cs typeface="+mn-lt"/>
              </a:rPr>
              <a:t>FaceNet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-lite model, which strips away the visual image and outputs a highly compressed </a:t>
            </a:r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1-Dimensional Feature Vector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(an array of numbers).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Verification: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To match a live face against our enrolled faces, the ESP32 calculates the Euclidean distance between the two vectors in high-dimensional space: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The Threshold: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If the distance, d, is below a strict mathematical threshold, the model outputs a "Match."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9FFF183-53F1-4BA8-D5D7-70BEE3EA8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3171060"/>
            <a:ext cx="4142232" cy="143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14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DA193-6EA8-AAA3-B76F-50D4470F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System Initialization &amp; Web Server Setup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19203-E28B-16F9-484E-99E39B99A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  <a:ea typeface="+mn-lt"/>
                <a:cs typeface="+mn-lt"/>
              </a:rPr>
              <a:t>Preparing the Environment</a:t>
            </a:r>
            <a:endParaRPr lang="en-US" sz="1600" b="1" i="1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5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Wi-Fi Connection: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Upon initial boot, the XIAO ESP32- S3 Sense connects to a standard local Wi-Fi network. </a:t>
            </a:r>
            <a:r>
              <a:rPr lang="en-US" sz="1500" i="1">
                <a:solidFill>
                  <a:schemeClr val="tx2"/>
                </a:solidFill>
                <a:ea typeface="+mn-lt"/>
                <a:cs typeface="+mn-lt"/>
              </a:rPr>
              <a:t>Note: Wi-Fi is only required for this initial setup phase.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Hosting the Portal: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The XIAO spins up a local asynchronous web server. The HTML/CSS and JavaScript for the user interface are stored directly in the C++ code as compressed hex arrays.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Camera Driver: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The OV2640 camera sensor is initialized via </a:t>
            </a:r>
            <a:r>
              <a:rPr lang="en-US" sz="1500" err="1">
                <a:solidFill>
                  <a:schemeClr val="tx2"/>
                </a:solidFill>
                <a:latin typeface="Consolas"/>
              </a:rPr>
              <a:t>esp_camera_init</a:t>
            </a:r>
            <a:r>
              <a:rPr lang="en-US" sz="1500">
                <a:solidFill>
                  <a:schemeClr val="tx2"/>
                </a:solidFill>
                <a:latin typeface="Consolas"/>
              </a:rPr>
              <a:t>()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, piping raw JPEG frames directly to the web UI over HTTP.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Link">
            <a:extLst>
              <a:ext uri="{FF2B5EF4-FFF2-40B4-BE49-F238E27FC236}">
                <a16:creationId xmlns:a16="http://schemas.microsoft.com/office/drawing/2014/main" id="{6CD39434-BDA0-2276-B116-0E5BE5529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52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C99AA-F732-257C-39FC-5A615910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The Enrollment Process</a:t>
            </a:r>
            <a:endParaRPr lang="en-US" sz="3600">
              <a:solidFill>
                <a:schemeClr val="tx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CC11300-3164-9945-2310-5D8ABE96E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  <a:ea typeface="+mn-lt"/>
                <a:cs typeface="+mn-lt"/>
              </a:rPr>
              <a:t>Training the Edge Device</a:t>
            </a:r>
            <a:endParaRPr lang="en-US" sz="1600" b="1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4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Access: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The user accesses the board's local IP address via a phone or laptop browser.</a:t>
            </a:r>
            <a:endParaRPr lang="en-US" sz="1400">
              <a:solidFill>
                <a:schemeClr val="tx2"/>
              </a:solidFill>
            </a:endParaRPr>
          </a:p>
          <a:p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Data Capture: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Clicking "Enroll Face" triggers the ESP-WHO model to capture 5 to 10 consecutive frames of the user's face.</a:t>
            </a:r>
            <a:endParaRPr lang="en-US" sz="1400">
              <a:solidFill>
                <a:schemeClr val="tx2"/>
              </a:solidFill>
            </a:endParaRPr>
          </a:p>
          <a:p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Averaging: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The model calculates the mathematical average of these feature vectors to create a robust, single baseline profile.</a:t>
            </a:r>
            <a:endParaRPr lang="en-US" sz="1400">
              <a:solidFill>
                <a:schemeClr val="tx2"/>
              </a:solidFill>
            </a:endParaRPr>
          </a:p>
          <a:p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Storage: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This profile is assigned a discrete ID (e.g., "Subject 0") and stored securely in the board's PSRAM (or Flash memory for permanent retention).</a:t>
            </a:r>
            <a:endParaRPr lang="en-US" sz="14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400">
              <a:solidFill>
                <a:schemeClr val="tx2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474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90CCC-4DC7-42D3-5435-1F3F063B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Operational Mode: Transitioning to ESP-NOW</a:t>
            </a: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FEC46-6A8C-105E-29B3-ABCC7B460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Removing connection from the Router</a:t>
            </a:r>
            <a:endParaRPr lang="en-US" sz="1800" b="1"/>
          </a:p>
          <a:p>
            <a:pPr marL="0" indent="0">
              <a:buNone/>
            </a:pPr>
            <a:endParaRPr lang="en-US" sz="1700">
              <a:ea typeface="+mn-lt"/>
              <a:cs typeface="+mn-lt"/>
            </a:endParaRPr>
          </a:p>
          <a:p>
            <a:r>
              <a:rPr lang="en-US" sz="1700" b="1">
                <a:ea typeface="+mn-lt"/>
                <a:cs typeface="+mn-lt"/>
              </a:rPr>
              <a:t>Wi-Fi Disconnect:</a:t>
            </a:r>
            <a:r>
              <a:rPr lang="en-US" sz="1700">
                <a:ea typeface="+mn-lt"/>
                <a:cs typeface="+mn-lt"/>
              </a:rPr>
              <a:t> Once the face is enrolled, the system no longer needs the web portal or the local Wi-Fi router.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ESP-NOW Activation:</a:t>
            </a:r>
            <a:r>
              <a:rPr lang="en-US" sz="1700">
                <a:ea typeface="+mn-lt"/>
                <a:cs typeface="+mn-lt"/>
              </a:rPr>
              <a:t> The system shifts to ESP-NOW, a connectionless Wi-Fi communication protocol utilizing the 2.4GHz band.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The Trigger:</a:t>
            </a:r>
            <a:r>
              <a:rPr lang="en-US" sz="1700">
                <a:ea typeface="+mn-lt"/>
                <a:cs typeface="+mn-lt"/>
              </a:rPr>
              <a:t> When a recognized face is detected, the AI script interrupts standard operation and fires a lightweight, encrypted </a:t>
            </a:r>
            <a:r>
              <a:rPr lang="en-US" sz="1700">
                <a:latin typeface="Consolas"/>
              </a:rPr>
              <a:t>"UNLOCK"</a:t>
            </a:r>
            <a:r>
              <a:rPr lang="en-US" sz="1700">
                <a:ea typeface="+mn-lt"/>
                <a:cs typeface="+mn-lt"/>
              </a:rPr>
              <a:t> payload directly to the Receiver's specific MAC Address.</a:t>
            </a:r>
            <a:endParaRPr lang="en-US" sz="1700"/>
          </a:p>
          <a:p>
            <a:endParaRPr lang="en-US" sz="1700"/>
          </a:p>
        </p:txBody>
      </p:sp>
      <p:pic>
        <p:nvPicPr>
          <p:cNvPr id="5" name="Picture 4" descr="Cloud shaped hard drive with cables">
            <a:extLst>
              <a:ext uri="{FF2B5EF4-FFF2-40B4-BE49-F238E27FC236}">
                <a16:creationId xmlns:a16="http://schemas.microsoft.com/office/drawing/2014/main" id="{3C5CEE1B-FE9B-A80E-9478-1DE4989B59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09" r="34528" b="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3194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4D506-6ED8-EBF3-39A8-BD784D6D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Receiver Actuation &amp; Hardware Safety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5AC5B-E892-31C8-051C-F0E2C9F1F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Safely Translating Logic to Physical Force</a:t>
            </a:r>
            <a:endParaRPr lang="en-US" sz="20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The Listener: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The Receiver (ESP32-S3 DevKit) constantly listens via an </a:t>
            </a:r>
            <a:r>
              <a:rPr lang="en-US" sz="2000">
                <a:solidFill>
                  <a:schemeClr val="bg1"/>
                </a:solidFill>
                <a:latin typeface="Consolas"/>
              </a:rPr>
              <a:t>onDataRecv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callback function.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The Translation: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Upon verifying the </a:t>
            </a:r>
            <a:r>
              <a:rPr lang="en-US" sz="2000">
                <a:solidFill>
                  <a:schemeClr val="bg1"/>
                </a:solidFill>
                <a:latin typeface="Consolas"/>
              </a:rPr>
              <a:t>"UNLOCK"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string, the DevKit drives a GPIO pin HIGH, triggering a 5V relay.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Hardware Protection: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The relay closes the 12V circuit to retract the lock. A 1N4007 Flyback Diode safely dissipates the inductive voltage spike when the solenoid de-energizes, protecting the microcontroller.</a:t>
            </a:r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69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448CE2-BC7A-8306-4B15-938A40C56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9312-0AC1-A99F-E537-ACC17AC0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  <a:ea typeface="+mn-lt"/>
                <a:cs typeface="+mn-lt"/>
              </a:rPr>
              <a:t>Project Summary &amp; Future Iterations</a:t>
            </a:r>
            <a:endParaRPr lang="en-US" sz="2000" b="1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2000" b="1">
                <a:solidFill>
                  <a:schemeClr val="tx2"/>
                </a:solidFill>
                <a:ea typeface="+mn-lt"/>
                <a:cs typeface="+mn-lt"/>
              </a:rPr>
              <a:t>Current State:</a:t>
            </a:r>
            <a:r>
              <a:rPr lang="en-US" sz="2000">
                <a:solidFill>
                  <a:schemeClr val="tx2"/>
                </a:solidFill>
                <a:ea typeface="+mn-lt"/>
                <a:cs typeface="+mn-lt"/>
              </a:rPr>
              <a:t> Fully functional, decentralized biometric lock operating completely on edge AI.</a:t>
            </a:r>
            <a:endParaRPr lang="en-US" sz="2000">
              <a:solidFill>
                <a:schemeClr val="tx2"/>
              </a:solidFill>
            </a:endParaRPr>
          </a:p>
          <a:p>
            <a:r>
              <a:rPr lang="en-US" sz="2000" b="1">
                <a:solidFill>
                  <a:schemeClr val="tx2"/>
                </a:solidFill>
                <a:ea typeface="+mn-lt"/>
                <a:cs typeface="+mn-lt"/>
              </a:rPr>
              <a:t>Future Upgrades:</a:t>
            </a:r>
            <a:r>
              <a:rPr lang="en-US" sz="2000">
                <a:solidFill>
                  <a:schemeClr val="tx2"/>
                </a:solidFill>
                <a:ea typeface="+mn-lt"/>
                <a:cs typeface="+mn-lt"/>
              </a:rPr>
              <a:t> * Migrating biometric profiles from volatile PSRAM to non-volatile SPIFFS/Flash.</a:t>
            </a:r>
          </a:p>
          <a:p>
            <a:r>
              <a:rPr lang="en-US" sz="2000">
                <a:solidFill>
                  <a:schemeClr val="tx2"/>
                </a:solidFill>
                <a:ea typeface="+mn-lt"/>
                <a:cs typeface="+mn-lt"/>
              </a:rPr>
              <a:t>Implementing Deep Sleep interrupt triggers (via tactile button) to optimize the 3.7V LiPo battery life.</a:t>
            </a:r>
            <a:endParaRPr lang="en-US" sz="20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7299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B322D-A72A-104D-6C2C-2D7B508B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Technical Challenges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67BAC-4777-65DE-159E-339688413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734"/>
            <a:ext cx="10515600" cy="483187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ea typeface="+mn-lt"/>
                <a:cs typeface="+mn-lt"/>
              </a:rPr>
              <a:t>Development Environment Constraints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The Roadblock:</a:t>
            </a:r>
            <a:r>
              <a:rPr lang="en-US">
                <a:ea typeface="+mn-lt"/>
                <a:cs typeface="+mn-lt"/>
              </a:rPr>
              <a:t> Encountered critical configuration issues within the Arduino IDE, preventing the successful installation and compilation of facial recognition libraries.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Technical Context:</a:t>
            </a:r>
            <a:r>
              <a:rPr lang="en-US">
                <a:ea typeface="+mn-lt"/>
                <a:cs typeface="+mn-lt"/>
              </a:rPr>
              <a:t> The required Convolutional Neural Network (CNN) models and camera drivers rely on a complex web of specific ESP32 board support packages, which proved unstable in our current IDE setup.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Project Impact:</a:t>
            </a:r>
            <a:r>
              <a:rPr lang="en-US">
                <a:ea typeface="+mn-lt"/>
                <a:cs typeface="+mn-lt"/>
              </a:rPr>
              <a:t> This toolchain instability temporarily halted the deployment of the on-device biometric enrollment and verification logic to the Transmitter Unit (XIAO ESP32-S3 Sense).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Strategic Pivot:</a:t>
            </a:r>
            <a:r>
              <a:rPr lang="en-US">
                <a:ea typeface="+mn-lt"/>
                <a:cs typeface="+mn-lt"/>
              </a:rPr>
              <a:t> Moving forward, the proposed solution is that we may migrate the development environment from the Arduino IDE to the official </a:t>
            </a:r>
            <a:r>
              <a:rPr lang="en-US" b="1" err="1">
                <a:ea typeface="+mn-lt"/>
                <a:cs typeface="+mn-lt"/>
              </a:rPr>
              <a:t>Espressif</a:t>
            </a:r>
            <a:r>
              <a:rPr lang="en-US" b="1">
                <a:ea typeface="+mn-lt"/>
                <a:cs typeface="+mn-lt"/>
              </a:rPr>
              <a:t> IoT Development Framework (ESP-IDF)</a:t>
            </a:r>
            <a:r>
              <a:rPr lang="en-US">
                <a:ea typeface="+mn-lt"/>
                <a:cs typeface="+mn-lt"/>
              </a:rPr>
              <a:t>, which offers native, robust dependency management for complex AI workloads.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79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Facial Recognition Drawer Unlock System – AI Model</vt:lpstr>
      <vt:lpstr>System Overview</vt:lpstr>
      <vt:lpstr>The AI Engine: ESP-WHO Framework</vt:lpstr>
      <vt:lpstr>AI Phase 1 - Face Detection &amp; Alignment</vt:lpstr>
      <vt:lpstr>AI Phase 2 - Biometric Encoding</vt:lpstr>
      <vt:lpstr>System Initialization &amp; Web Server Setup</vt:lpstr>
      <vt:lpstr>The Enrollment Process</vt:lpstr>
      <vt:lpstr>Operational Mode: Transitioning to ESP-NOW</vt:lpstr>
      <vt:lpstr>Receiver Actuation &amp; Hardware Safety</vt:lpstr>
      <vt:lpstr>Conclusion</vt:lpstr>
      <vt:lpstr>Technical 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Facial Recognition Drawer Unlock System – AI Model</dc:title>
  <dc:creator/>
  <cp:revision>2</cp:revision>
  <dcterms:created xsi:type="dcterms:W3CDTF">2026-03-25T22:59:30Z</dcterms:created>
  <dcterms:modified xsi:type="dcterms:W3CDTF">2026-03-26T00:43:21Z</dcterms:modified>
</cp:coreProperties>
</file>